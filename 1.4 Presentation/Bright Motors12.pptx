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heme/themeOverride1.xml" ContentType="application/vnd.openxmlformats-officedocument.themeOverr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theme/themeOverride2.xml" ContentType="application/vnd.openxmlformats-officedocument.themeOverr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theme/themeOverride3.xml" ContentType="application/vnd.openxmlformats-officedocument.themeOverr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theme/themeOverride4.xml" ContentType="application/vnd.openxmlformats-officedocument.themeOverrid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8" r:id="rId1"/>
  </p:sldMasterIdLst>
  <p:sldIdLst>
    <p:sldId id="257" r:id="rId2"/>
    <p:sldId id="256" r:id="rId3"/>
    <p:sldId id="259" r:id="rId4"/>
    <p:sldId id="271" r:id="rId5"/>
    <p:sldId id="269" r:id="rId6"/>
    <p:sldId id="268" r:id="rId7"/>
    <p:sldId id="267" r:id="rId8"/>
    <p:sldId id="261" r:id="rId9"/>
    <p:sldId id="266"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78CD3FF-B599-4577-8CF0-090756649CFE}" v="21" dt="2026-05-06T07:50:51.78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varScale="1">
        <p:scale>
          <a:sx n="90" d="100"/>
          <a:sy n="90" d="100"/>
        </p:scale>
        <p:origin x="355"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oleObject" Target="file:///C:\Users\zakes.khotlele\Downloads\V3_Summary.xlsb" TargetMode="External"/></Relationships>
</file>

<file path=ppt/charts/_rels/chart2.xml.rels><?xml version="1.0" encoding="UTF-8" standalone="yes"?>
<Relationships xmlns="http://schemas.openxmlformats.org/package/2006/relationships"><Relationship Id="rId3" Type="http://schemas.openxmlformats.org/officeDocument/2006/relationships/themeOverride" Target="../theme/themeOverride2.xml"/><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oleObject" Target="file:///C:\Users\zakes.khotlele\Downloads\V3_Summary.xlsb" TargetMode="External"/></Relationships>
</file>

<file path=ppt/charts/_rels/chart3.xml.rels><?xml version="1.0" encoding="UTF-8" standalone="yes"?>
<Relationships xmlns="http://schemas.openxmlformats.org/package/2006/relationships"><Relationship Id="rId3" Type="http://schemas.openxmlformats.org/officeDocument/2006/relationships/themeOverride" Target="../theme/themeOverride3.xml"/><Relationship Id="rId2" Type="http://schemas.microsoft.com/office/2011/relationships/chartColorStyle" Target="colors3.xml"/><Relationship Id="rId1" Type="http://schemas.microsoft.com/office/2011/relationships/chartStyle" Target="style3.xml"/><Relationship Id="rId4" Type="http://schemas.openxmlformats.org/officeDocument/2006/relationships/oleObject" Target="file:///C:\Users\zakes.khotlele\Downloads\V3_Summary.xlsb" TargetMode="External"/></Relationships>
</file>

<file path=ppt/charts/_rels/chart4.xml.rels><?xml version="1.0" encoding="UTF-8" standalone="yes"?>
<Relationships xmlns="http://schemas.openxmlformats.org/package/2006/relationships"><Relationship Id="rId3" Type="http://schemas.openxmlformats.org/officeDocument/2006/relationships/oleObject" Target="file:///C:\Users\zakes.khotlele\Downloads\V3_Summary.xlsb"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C:\Users\zakes.khotlele\Downloads\V3_Summary.xlsb"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themeOverride" Target="../theme/themeOverride4.xml"/><Relationship Id="rId2" Type="http://schemas.microsoft.com/office/2011/relationships/chartColorStyle" Target="colors6.xml"/><Relationship Id="rId1" Type="http://schemas.microsoft.com/office/2011/relationships/chartStyle" Target="style6.xml"/><Relationship Id="rId4" Type="http://schemas.openxmlformats.org/officeDocument/2006/relationships/oleObject" Target="file:///C:\Users\zakes.khotlele\Downloads\V3_Summary.xlsb" TargetMode="External"/></Relationships>
</file>

<file path=ppt/charts/_rels/chart7.xml.rels><?xml version="1.0" encoding="UTF-8" standalone="yes"?>
<Relationships xmlns="http://schemas.openxmlformats.org/package/2006/relationships"><Relationship Id="rId3" Type="http://schemas.openxmlformats.org/officeDocument/2006/relationships/oleObject" Target="file:///C:\Users\zakes.khotlele\Downloads\V3_Summary.xlsb"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1" Type="http://schemas.openxmlformats.org/officeDocument/2006/relationships/oleObject" Target="file:///C:\Users\zakes.khotlele\Downloads\V3_Summary.xlsb"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pivotSource>
    <c:name>[V3_Summary.xlsb]Sales by vehicle condition!PivotTable13</c:name>
    <c:fmtId val="18"/>
  </c:pivotSource>
  <c:chart>
    <c:title>
      <c:tx>
        <c:rich>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n-ea"/>
                <a:cs typeface="+mn-cs"/>
              </a:defRPr>
            </a:pPr>
            <a:r>
              <a:rPr lang="en-ZA" b="1"/>
              <a:t>Sales</a:t>
            </a:r>
            <a:r>
              <a:rPr lang="en-ZA" b="1" baseline="0"/>
              <a:t> by Vehicle condition</a:t>
            </a:r>
            <a:endParaRPr lang="en-ZA" b="1"/>
          </a:p>
        </c:rich>
      </c:tx>
      <c:layout>
        <c:manualLayout>
          <c:xMode val="edge"/>
          <c:yMode val="edge"/>
          <c:x val="0.13515474417049222"/>
          <c:y val="1.7899056845400597E-2"/>
        </c:manualLayout>
      </c:layout>
      <c:overlay val="0"/>
      <c:spPr>
        <a:noFill/>
        <a:ln>
          <a:noFill/>
        </a:ln>
        <a:effectLst/>
      </c:spPr>
      <c:txPr>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n-ea"/>
              <a:cs typeface="+mn-cs"/>
            </a:defRPr>
          </a:pPr>
          <a:endParaRPr lang="en-ZA"/>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0"/>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1"/>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2"/>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3"/>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4"/>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5"/>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6"/>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7"/>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8"/>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9"/>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20"/>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21"/>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22"/>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23"/>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24"/>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25"/>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26"/>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27"/>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28"/>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29"/>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30"/>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31"/>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32"/>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33"/>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34"/>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35"/>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36"/>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37"/>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38"/>
        <c:spPr>
          <a:solidFill>
            <a:schemeClr val="accent1"/>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39"/>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5.2030312131381581E-2"/>
          <c:y val="0.1733634362055454"/>
          <c:w val="0.82679537570241535"/>
          <c:h val="0.57366844547275198"/>
        </c:manualLayout>
      </c:layout>
      <c:barChart>
        <c:barDir val="col"/>
        <c:grouping val="clustered"/>
        <c:varyColors val="0"/>
        <c:ser>
          <c:idx val="0"/>
          <c:order val="0"/>
          <c:tx>
            <c:strRef>
              <c:f>'Sales by vehicle condition'!$B$3:$B$4</c:f>
              <c:strCache>
                <c:ptCount val="1"/>
                <c:pt idx="0">
                  <c:v>Excellent</c:v>
                </c:pt>
              </c:strCache>
            </c:strRef>
          </c:tx>
          <c:spPr>
            <a:solidFill>
              <a:schemeClr val="accent1"/>
            </a:solidFill>
            <a:ln>
              <a:noFill/>
            </a:ln>
            <a:effectLst/>
          </c:spPr>
          <c:invertIfNegative val="0"/>
          <c:cat>
            <c:strRef>
              <c:f>'Sales by vehicle condition'!$A$5:$A$43</c:f>
              <c:strCache>
                <c:ptCount val="38"/>
                <c:pt idx="0">
                  <c:v>AB</c:v>
                </c:pt>
                <c:pt idx="1">
                  <c:v>Alabama</c:v>
                </c:pt>
                <c:pt idx="2">
                  <c:v>Arizona</c:v>
                </c:pt>
                <c:pt idx="3">
                  <c:v>California</c:v>
                </c:pt>
                <c:pt idx="4">
                  <c:v>Colorado</c:v>
                </c:pt>
                <c:pt idx="5">
                  <c:v>Florida</c:v>
                </c:pt>
                <c:pt idx="6">
                  <c:v>Georgia</c:v>
                </c:pt>
                <c:pt idx="7">
                  <c:v>HI</c:v>
                </c:pt>
                <c:pt idx="8">
                  <c:v>Illinois</c:v>
                </c:pt>
                <c:pt idx="9">
                  <c:v>Indiana</c:v>
                </c:pt>
                <c:pt idx="10">
                  <c:v>LA</c:v>
                </c:pt>
                <c:pt idx="11">
                  <c:v>Maryland</c:v>
                </c:pt>
                <c:pt idx="12">
                  <c:v>Massachusetts</c:v>
                </c:pt>
                <c:pt idx="13">
                  <c:v>Michigan</c:v>
                </c:pt>
                <c:pt idx="14">
                  <c:v>Minnesota</c:v>
                </c:pt>
                <c:pt idx="15">
                  <c:v>Missouri</c:v>
                </c:pt>
                <c:pt idx="16">
                  <c:v>MS</c:v>
                </c:pt>
                <c:pt idx="17">
                  <c:v>NE</c:v>
                </c:pt>
                <c:pt idx="18">
                  <c:v>Nevada</c:v>
                </c:pt>
                <c:pt idx="19">
                  <c:v>New Jersey</c:v>
                </c:pt>
                <c:pt idx="20">
                  <c:v>New York</c:v>
                </c:pt>
                <c:pt idx="21">
                  <c:v>NM</c:v>
                </c:pt>
                <c:pt idx="22">
                  <c:v>North Carolina</c:v>
                </c:pt>
                <c:pt idx="23">
                  <c:v>NS</c:v>
                </c:pt>
                <c:pt idx="24">
                  <c:v>Ohio</c:v>
                </c:pt>
                <c:pt idx="25">
                  <c:v>OK</c:v>
                </c:pt>
                <c:pt idx="26">
                  <c:v>ON</c:v>
                </c:pt>
                <c:pt idx="27">
                  <c:v>Oregon</c:v>
                </c:pt>
                <c:pt idx="28">
                  <c:v>Pennsylvania</c:v>
                </c:pt>
                <c:pt idx="29">
                  <c:v>PR</c:v>
                </c:pt>
                <c:pt idx="30">
                  <c:v>QC</c:v>
                </c:pt>
                <c:pt idx="31">
                  <c:v>South Carolina</c:v>
                </c:pt>
                <c:pt idx="32">
                  <c:v>Tennessee</c:v>
                </c:pt>
                <c:pt idx="33">
                  <c:v>Texas</c:v>
                </c:pt>
                <c:pt idx="34">
                  <c:v>Utah</c:v>
                </c:pt>
                <c:pt idx="35">
                  <c:v>Virginia</c:v>
                </c:pt>
                <c:pt idx="36">
                  <c:v>Washington</c:v>
                </c:pt>
                <c:pt idx="37">
                  <c:v>Wisconsin</c:v>
                </c:pt>
              </c:strCache>
            </c:strRef>
          </c:cat>
          <c:val>
            <c:numRef>
              <c:f>'Sales by vehicle condition'!$B$5:$B$43</c:f>
              <c:numCache>
                <c:formatCode>General</c:formatCode>
                <c:ptCount val="38"/>
                <c:pt idx="0">
                  <c:v>448</c:v>
                </c:pt>
                <c:pt idx="1">
                  <c:v>11</c:v>
                </c:pt>
                <c:pt idx="2">
                  <c:v>4044</c:v>
                </c:pt>
                <c:pt idx="3">
                  <c:v>42720</c:v>
                </c:pt>
                <c:pt idx="4">
                  <c:v>4764</c:v>
                </c:pt>
                <c:pt idx="5">
                  <c:v>46560</c:v>
                </c:pt>
                <c:pt idx="6">
                  <c:v>19973</c:v>
                </c:pt>
                <c:pt idx="7">
                  <c:v>712</c:v>
                </c:pt>
                <c:pt idx="8">
                  <c:v>11865</c:v>
                </c:pt>
                <c:pt idx="9">
                  <c:v>2503</c:v>
                </c:pt>
                <c:pt idx="10">
                  <c:v>988</c:v>
                </c:pt>
                <c:pt idx="11">
                  <c:v>4692</c:v>
                </c:pt>
                <c:pt idx="12">
                  <c:v>2472</c:v>
                </c:pt>
                <c:pt idx="13">
                  <c:v>9933</c:v>
                </c:pt>
                <c:pt idx="14">
                  <c:v>5674</c:v>
                </c:pt>
                <c:pt idx="15">
                  <c:v>10821</c:v>
                </c:pt>
                <c:pt idx="16">
                  <c:v>939</c:v>
                </c:pt>
                <c:pt idx="17">
                  <c:v>2590</c:v>
                </c:pt>
                <c:pt idx="18">
                  <c:v>8118</c:v>
                </c:pt>
                <c:pt idx="19">
                  <c:v>15807</c:v>
                </c:pt>
                <c:pt idx="20">
                  <c:v>2644</c:v>
                </c:pt>
                <c:pt idx="21">
                  <c:v>57</c:v>
                </c:pt>
                <c:pt idx="22">
                  <c:v>10066</c:v>
                </c:pt>
                <c:pt idx="23">
                  <c:v>38</c:v>
                </c:pt>
                <c:pt idx="24">
                  <c:v>14206</c:v>
                </c:pt>
                <c:pt idx="25">
                  <c:v>24</c:v>
                </c:pt>
                <c:pt idx="26">
                  <c:v>2265</c:v>
                </c:pt>
                <c:pt idx="27">
                  <c:v>637</c:v>
                </c:pt>
                <c:pt idx="28">
                  <c:v>36076</c:v>
                </c:pt>
                <c:pt idx="29">
                  <c:v>1662</c:v>
                </c:pt>
                <c:pt idx="30">
                  <c:v>804</c:v>
                </c:pt>
                <c:pt idx="31">
                  <c:v>2186</c:v>
                </c:pt>
                <c:pt idx="32">
                  <c:v>14629</c:v>
                </c:pt>
                <c:pt idx="33">
                  <c:v>26084</c:v>
                </c:pt>
                <c:pt idx="34">
                  <c:v>606</c:v>
                </c:pt>
                <c:pt idx="35">
                  <c:v>4010</c:v>
                </c:pt>
                <c:pt idx="36">
                  <c:v>4804</c:v>
                </c:pt>
                <c:pt idx="37">
                  <c:v>5217</c:v>
                </c:pt>
              </c:numCache>
            </c:numRef>
          </c:val>
          <c:extLst>
            <c:ext xmlns:c16="http://schemas.microsoft.com/office/drawing/2014/chart" uri="{C3380CC4-5D6E-409C-BE32-E72D297353CC}">
              <c16:uniqueId val="{00000000-7FE8-4A0E-BC0E-F08C20E47574}"/>
            </c:ext>
          </c:extLst>
        </c:ser>
        <c:ser>
          <c:idx val="1"/>
          <c:order val="1"/>
          <c:tx>
            <c:strRef>
              <c:f>'Sales by vehicle condition'!$C$3:$C$4</c:f>
              <c:strCache>
                <c:ptCount val="1"/>
                <c:pt idx="0">
                  <c:v>Good/Average</c:v>
                </c:pt>
              </c:strCache>
            </c:strRef>
          </c:tx>
          <c:spPr>
            <a:solidFill>
              <a:schemeClr val="accent2"/>
            </a:solidFill>
            <a:ln>
              <a:noFill/>
            </a:ln>
            <a:effectLst/>
          </c:spPr>
          <c:invertIfNegative val="0"/>
          <c:cat>
            <c:strRef>
              <c:f>'Sales by vehicle condition'!$A$5:$A$43</c:f>
              <c:strCache>
                <c:ptCount val="38"/>
                <c:pt idx="0">
                  <c:v>AB</c:v>
                </c:pt>
                <c:pt idx="1">
                  <c:v>Alabama</c:v>
                </c:pt>
                <c:pt idx="2">
                  <c:v>Arizona</c:v>
                </c:pt>
                <c:pt idx="3">
                  <c:v>California</c:v>
                </c:pt>
                <c:pt idx="4">
                  <c:v>Colorado</c:v>
                </c:pt>
                <c:pt idx="5">
                  <c:v>Florida</c:v>
                </c:pt>
                <c:pt idx="6">
                  <c:v>Georgia</c:v>
                </c:pt>
                <c:pt idx="7">
                  <c:v>HI</c:v>
                </c:pt>
                <c:pt idx="8">
                  <c:v>Illinois</c:v>
                </c:pt>
                <c:pt idx="9">
                  <c:v>Indiana</c:v>
                </c:pt>
                <c:pt idx="10">
                  <c:v>LA</c:v>
                </c:pt>
                <c:pt idx="11">
                  <c:v>Maryland</c:v>
                </c:pt>
                <c:pt idx="12">
                  <c:v>Massachusetts</c:v>
                </c:pt>
                <c:pt idx="13">
                  <c:v>Michigan</c:v>
                </c:pt>
                <c:pt idx="14">
                  <c:v>Minnesota</c:v>
                </c:pt>
                <c:pt idx="15">
                  <c:v>Missouri</c:v>
                </c:pt>
                <c:pt idx="16">
                  <c:v>MS</c:v>
                </c:pt>
                <c:pt idx="17">
                  <c:v>NE</c:v>
                </c:pt>
                <c:pt idx="18">
                  <c:v>Nevada</c:v>
                </c:pt>
                <c:pt idx="19">
                  <c:v>New Jersey</c:v>
                </c:pt>
                <c:pt idx="20">
                  <c:v>New York</c:v>
                </c:pt>
                <c:pt idx="21">
                  <c:v>NM</c:v>
                </c:pt>
                <c:pt idx="22">
                  <c:v>North Carolina</c:v>
                </c:pt>
                <c:pt idx="23">
                  <c:v>NS</c:v>
                </c:pt>
                <c:pt idx="24">
                  <c:v>Ohio</c:v>
                </c:pt>
                <c:pt idx="25">
                  <c:v>OK</c:v>
                </c:pt>
                <c:pt idx="26">
                  <c:v>ON</c:v>
                </c:pt>
                <c:pt idx="27">
                  <c:v>Oregon</c:v>
                </c:pt>
                <c:pt idx="28">
                  <c:v>Pennsylvania</c:v>
                </c:pt>
                <c:pt idx="29">
                  <c:v>PR</c:v>
                </c:pt>
                <c:pt idx="30">
                  <c:v>QC</c:v>
                </c:pt>
                <c:pt idx="31">
                  <c:v>South Carolina</c:v>
                </c:pt>
                <c:pt idx="32">
                  <c:v>Tennessee</c:v>
                </c:pt>
                <c:pt idx="33">
                  <c:v>Texas</c:v>
                </c:pt>
                <c:pt idx="34">
                  <c:v>Utah</c:v>
                </c:pt>
                <c:pt idx="35">
                  <c:v>Virginia</c:v>
                </c:pt>
                <c:pt idx="36">
                  <c:v>Washington</c:v>
                </c:pt>
                <c:pt idx="37">
                  <c:v>Wisconsin</c:v>
                </c:pt>
              </c:strCache>
            </c:strRef>
          </c:cat>
          <c:val>
            <c:numRef>
              <c:f>'Sales by vehicle condition'!$C$5:$C$43</c:f>
              <c:numCache>
                <c:formatCode>General</c:formatCode>
                <c:ptCount val="38"/>
                <c:pt idx="0">
                  <c:v>146</c:v>
                </c:pt>
                <c:pt idx="1">
                  <c:v>8</c:v>
                </c:pt>
                <c:pt idx="2">
                  <c:v>1999</c:v>
                </c:pt>
                <c:pt idx="3">
                  <c:v>15155</c:v>
                </c:pt>
                <c:pt idx="4">
                  <c:v>1345</c:v>
                </c:pt>
                <c:pt idx="5">
                  <c:v>15626</c:v>
                </c:pt>
                <c:pt idx="6">
                  <c:v>7940</c:v>
                </c:pt>
                <c:pt idx="7">
                  <c:v>276</c:v>
                </c:pt>
                <c:pt idx="8">
                  <c:v>3921</c:v>
                </c:pt>
                <c:pt idx="9">
                  <c:v>791</c:v>
                </c:pt>
                <c:pt idx="10">
                  <c:v>421</c:v>
                </c:pt>
                <c:pt idx="11">
                  <c:v>2914</c:v>
                </c:pt>
                <c:pt idx="12">
                  <c:v>2603</c:v>
                </c:pt>
                <c:pt idx="13">
                  <c:v>2180</c:v>
                </c:pt>
                <c:pt idx="14">
                  <c:v>1635</c:v>
                </c:pt>
                <c:pt idx="15">
                  <c:v>2721</c:v>
                </c:pt>
                <c:pt idx="16">
                  <c:v>411</c:v>
                </c:pt>
                <c:pt idx="17">
                  <c:v>646</c:v>
                </c:pt>
                <c:pt idx="18">
                  <c:v>1786</c:v>
                </c:pt>
                <c:pt idx="19">
                  <c:v>6810</c:v>
                </c:pt>
                <c:pt idx="20">
                  <c:v>1261</c:v>
                </c:pt>
                <c:pt idx="21">
                  <c:v>37</c:v>
                </c:pt>
                <c:pt idx="22">
                  <c:v>6515</c:v>
                </c:pt>
                <c:pt idx="23">
                  <c:v>14</c:v>
                </c:pt>
                <c:pt idx="24">
                  <c:v>3237</c:v>
                </c:pt>
                <c:pt idx="25">
                  <c:v>18</c:v>
                </c:pt>
                <c:pt idx="26">
                  <c:v>396</c:v>
                </c:pt>
                <c:pt idx="27">
                  <c:v>239</c:v>
                </c:pt>
                <c:pt idx="28">
                  <c:v>8513</c:v>
                </c:pt>
                <c:pt idx="29">
                  <c:v>594</c:v>
                </c:pt>
                <c:pt idx="30">
                  <c:v>215</c:v>
                </c:pt>
                <c:pt idx="31">
                  <c:v>952</c:v>
                </c:pt>
                <c:pt idx="32">
                  <c:v>2865</c:v>
                </c:pt>
                <c:pt idx="33">
                  <c:v>10111</c:v>
                </c:pt>
                <c:pt idx="34">
                  <c:v>574</c:v>
                </c:pt>
                <c:pt idx="35">
                  <c:v>3424</c:v>
                </c:pt>
                <c:pt idx="36">
                  <c:v>1240</c:v>
                </c:pt>
                <c:pt idx="37">
                  <c:v>2161</c:v>
                </c:pt>
              </c:numCache>
            </c:numRef>
          </c:val>
          <c:extLst>
            <c:ext xmlns:c16="http://schemas.microsoft.com/office/drawing/2014/chart" uri="{C3380CC4-5D6E-409C-BE32-E72D297353CC}">
              <c16:uniqueId val="{00000001-7FE8-4A0E-BC0E-F08C20E47574}"/>
            </c:ext>
          </c:extLst>
        </c:ser>
        <c:ser>
          <c:idx val="2"/>
          <c:order val="2"/>
          <c:tx>
            <c:strRef>
              <c:f>'Sales by vehicle condition'!$D$3:$D$4</c:f>
              <c:strCache>
                <c:ptCount val="1"/>
                <c:pt idx="0">
                  <c:v>Poor/Budget</c:v>
                </c:pt>
              </c:strCache>
            </c:strRef>
          </c:tx>
          <c:spPr>
            <a:solidFill>
              <a:schemeClr val="accent3"/>
            </a:solidFill>
            <a:ln>
              <a:noFill/>
            </a:ln>
            <a:effectLst/>
          </c:spPr>
          <c:invertIfNegative val="0"/>
          <c:cat>
            <c:strRef>
              <c:f>'Sales by vehicle condition'!$A$5:$A$43</c:f>
              <c:strCache>
                <c:ptCount val="38"/>
                <c:pt idx="0">
                  <c:v>AB</c:v>
                </c:pt>
                <c:pt idx="1">
                  <c:v>Alabama</c:v>
                </c:pt>
                <c:pt idx="2">
                  <c:v>Arizona</c:v>
                </c:pt>
                <c:pt idx="3">
                  <c:v>California</c:v>
                </c:pt>
                <c:pt idx="4">
                  <c:v>Colorado</c:v>
                </c:pt>
                <c:pt idx="5">
                  <c:v>Florida</c:v>
                </c:pt>
                <c:pt idx="6">
                  <c:v>Georgia</c:v>
                </c:pt>
                <c:pt idx="7">
                  <c:v>HI</c:v>
                </c:pt>
                <c:pt idx="8">
                  <c:v>Illinois</c:v>
                </c:pt>
                <c:pt idx="9">
                  <c:v>Indiana</c:v>
                </c:pt>
                <c:pt idx="10">
                  <c:v>LA</c:v>
                </c:pt>
                <c:pt idx="11">
                  <c:v>Maryland</c:v>
                </c:pt>
                <c:pt idx="12">
                  <c:v>Massachusetts</c:v>
                </c:pt>
                <c:pt idx="13">
                  <c:v>Michigan</c:v>
                </c:pt>
                <c:pt idx="14">
                  <c:v>Minnesota</c:v>
                </c:pt>
                <c:pt idx="15">
                  <c:v>Missouri</c:v>
                </c:pt>
                <c:pt idx="16">
                  <c:v>MS</c:v>
                </c:pt>
                <c:pt idx="17">
                  <c:v>NE</c:v>
                </c:pt>
                <c:pt idx="18">
                  <c:v>Nevada</c:v>
                </c:pt>
                <c:pt idx="19">
                  <c:v>New Jersey</c:v>
                </c:pt>
                <c:pt idx="20">
                  <c:v>New York</c:v>
                </c:pt>
                <c:pt idx="21">
                  <c:v>NM</c:v>
                </c:pt>
                <c:pt idx="22">
                  <c:v>North Carolina</c:v>
                </c:pt>
                <c:pt idx="23">
                  <c:v>NS</c:v>
                </c:pt>
                <c:pt idx="24">
                  <c:v>Ohio</c:v>
                </c:pt>
                <c:pt idx="25">
                  <c:v>OK</c:v>
                </c:pt>
                <c:pt idx="26">
                  <c:v>ON</c:v>
                </c:pt>
                <c:pt idx="27">
                  <c:v>Oregon</c:v>
                </c:pt>
                <c:pt idx="28">
                  <c:v>Pennsylvania</c:v>
                </c:pt>
                <c:pt idx="29">
                  <c:v>PR</c:v>
                </c:pt>
                <c:pt idx="30">
                  <c:v>QC</c:v>
                </c:pt>
                <c:pt idx="31">
                  <c:v>South Carolina</c:v>
                </c:pt>
                <c:pt idx="32">
                  <c:v>Tennessee</c:v>
                </c:pt>
                <c:pt idx="33">
                  <c:v>Texas</c:v>
                </c:pt>
                <c:pt idx="34">
                  <c:v>Utah</c:v>
                </c:pt>
                <c:pt idx="35">
                  <c:v>Virginia</c:v>
                </c:pt>
                <c:pt idx="36">
                  <c:v>Washington</c:v>
                </c:pt>
                <c:pt idx="37">
                  <c:v>Wisconsin</c:v>
                </c:pt>
              </c:strCache>
            </c:strRef>
          </c:cat>
          <c:val>
            <c:numRef>
              <c:f>'Sales by vehicle condition'!$D$5:$D$43</c:f>
              <c:numCache>
                <c:formatCode>General</c:formatCode>
                <c:ptCount val="38"/>
                <c:pt idx="0">
                  <c:v>334</c:v>
                </c:pt>
                <c:pt idx="1">
                  <c:v>7</c:v>
                </c:pt>
                <c:pt idx="2">
                  <c:v>2698</c:v>
                </c:pt>
                <c:pt idx="3">
                  <c:v>15273</c:v>
                </c:pt>
                <c:pt idx="4">
                  <c:v>1666</c:v>
                </c:pt>
                <c:pt idx="5">
                  <c:v>20759</c:v>
                </c:pt>
                <c:pt idx="6">
                  <c:v>6837</c:v>
                </c:pt>
                <c:pt idx="7">
                  <c:v>249</c:v>
                </c:pt>
                <c:pt idx="8">
                  <c:v>7700</c:v>
                </c:pt>
                <c:pt idx="9">
                  <c:v>1031</c:v>
                </c:pt>
                <c:pt idx="10">
                  <c:v>782</c:v>
                </c:pt>
                <c:pt idx="11">
                  <c:v>3552</c:v>
                </c:pt>
                <c:pt idx="12">
                  <c:v>1654</c:v>
                </c:pt>
                <c:pt idx="13">
                  <c:v>3398</c:v>
                </c:pt>
                <c:pt idx="14">
                  <c:v>2120</c:v>
                </c:pt>
                <c:pt idx="15">
                  <c:v>2471</c:v>
                </c:pt>
                <c:pt idx="16">
                  <c:v>501</c:v>
                </c:pt>
                <c:pt idx="17">
                  <c:v>777</c:v>
                </c:pt>
                <c:pt idx="18">
                  <c:v>2781</c:v>
                </c:pt>
                <c:pt idx="19">
                  <c:v>5167</c:v>
                </c:pt>
                <c:pt idx="20">
                  <c:v>1794</c:v>
                </c:pt>
                <c:pt idx="21">
                  <c:v>77</c:v>
                </c:pt>
                <c:pt idx="22">
                  <c:v>5264</c:v>
                </c:pt>
                <c:pt idx="23">
                  <c:v>9</c:v>
                </c:pt>
                <c:pt idx="24">
                  <c:v>4132</c:v>
                </c:pt>
                <c:pt idx="25">
                  <c:v>30</c:v>
                </c:pt>
                <c:pt idx="26">
                  <c:v>781</c:v>
                </c:pt>
                <c:pt idx="27">
                  <c:v>279</c:v>
                </c:pt>
                <c:pt idx="28">
                  <c:v>9318</c:v>
                </c:pt>
                <c:pt idx="29">
                  <c:v>469</c:v>
                </c:pt>
                <c:pt idx="30">
                  <c:v>226</c:v>
                </c:pt>
                <c:pt idx="31">
                  <c:v>1113</c:v>
                </c:pt>
                <c:pt idx="32">
                  <c:v>3401</c:v>
                </c:pt>
                <c:pt idx="33">
                  <c:v>9718</c:v>
                </c:pt>
                <c:pt idx="34">
                  <c:v>656</c:v>
                </c:pt>
                <c:pt idx="35">
                  <c:v>4593</c:v>
                </c:pt>
                <c:pt idx="36">
                  <c:v>1372</c:v>
                </c:pt>
                <c:pt idx="37">
                  <c:v>2473</c:v>
                </c:pt>
              </c:numCache>
            </c:numRef>
          </c:val>
          <c:extLst>
            <c:ext xmlns:c16="http://schemas.microsoft.com/office/drawing/2014/chart" uri="{C3380CC4-5D6E-409C-BE32-E72D297353CC}">
              <c16:uniqueId val="{00000002-7FE8-4A0E-BC0E-F08C20E47574}"/>
            </c:ext>
          </c:extLst>
        </c:ser>
        <c:dLbls>
          <c:showLegendKey val="0"/>
          <c:showVal val="0"/>
          <c:showCatName val="0"/>
          <c:showSerName val="0"/>
          <c:showPercent val="0"/>
          <c:showBubbleSize val="0"/>
        </c:dLbls>
        <c:gapWidth val="219"/>
        <c:overlap val="-27"/>
        <c:axId val="661823344"/>
        <c:axId val="661820464"/>
      </c:barChart>
      <c:catAx>
        <c:axId val="66182334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61820464"/>
        <c:crosses val="autoZero"/>
        <c:auto val="1"/>
        <c:lblAlgn val="ctr"/>
        <c:lblOffset val="100"/>
        <c:noMultiLvlLbl val="0"/>
      </c:catAx>
      <c:valAx>
        <c:axId val="661820464"/>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61823344"/>
        <c:crosses val="autoZero"/>
        <c:crossBetween val="between"/>
      </c:valAx>
      <c:spPr>
        <a:noFill/>
        <a:ln>
          <a:noFill/>
        </a:ln>
        <a:effectLst/>
      </c:spPr>
    </c:plotArea>
    <c:legend>
      <c:legendPos val="r"/>
      <c:layout>
        <c:manualLayout>
          <c:xMode val="edge"/>
          <c:yMode val="edge"/>
          <c:x val="0.6619830967075061"/>
          <c:y val="1.4905399858193055E-2"/>
          <c:w val="0.33110707445353116"/>
          <c:h val="8.8956972795462191E-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4">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pivotSource>
    <c:name>[V3_Summary.xlsb]Sheet18!PivotTable41</c:name>
    <c:fmtId val="6"/>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ZA"/>
              <a:t>Milage</a:t>
            </a:r>
            <a:r>
              <a:rPr lang="en-ZA" baseline="0"/>
              <a:t> by State</a:t>
            </a:r>
            <a:endParaRPr lang="en-ZA"/>
          </a:p>
        </c:rich>
      </c:tx>
      <c:layout>
        <c:manualLayout>
          <c:xMode val="edge"/>
          <c:yMode val="edge"/>
          <c:x val="0.2715011897323093"/>
          <c:y val="1.1284407449717773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ZA"/>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6.8505811773528311E-2"/>
          <c:y val="0.11407849232937023"/>
          <c:w val="0.88409486672235293"/>
          <c:h val="0.70252067629370463"/>
        </c:manualLayout>
      </c:layout>
      <c:barChart>
        <c:barDir val="col"/>
        <c:grouping val="stacked"/>
        <c:varyColors val="0"/>
        <c:ser>
          <c:idx val="0"/>
          <c:order val="0"/>
          <c:tx>
            <c:strRef>
              <c:f>Sheet18!$B$3</c:f>
              <c:strCache>
                <c:ptCount val="1"/>
                <c:pt idx="0">
                  <c:v>Sum of total_odometer_sum</c:v>
                </c:pt>
              </c:strCache>
            </c:strRef>
          </c:tx>
          <c:spPr>
            <a:solidFill>
              <a:schemeClr val="accent1"/>
            </a:solidFill>
            <a:ln>
              <a:noFill/>
            </a:ln>
            <a:effectLst/>
          </c:spPr>
          <c:invertIfNegative val="0"/>
          <c:cat>
            <c:strRef>
              <c:f>Sheet18!$A$4:$A$42</c:f>
              <c:strCache>
                <c:ptCount val="38"/>
                <c:pt idx="0">
                  <c:v>AB</c:v>
                </c:pt>
                <c:pt idx="1">
                  <c:v>Alabama</c:v>
                </c:pt>
                <c:pt idx="2">
                  <c:v>Arizona</c:v>
                </c:pt>
                <c:pt idx="3">
                  <c:v>California</c:v>
                </c:pt>
                <c:pt idx="4">
                  <c:v>Colorado</c:v>
                </c:pt>
                <c:pt idx="5">
                  <c:v>Florida</c:v>
                </c:pt>
                <c:pt idx="6">
                  <c:v>Georgia</c:v>
                </c:pt>
                <c:pt idx="7">
                  <c:v>HI</c:v>
                </c:pt>
                <c:pt idx="8">
                  <c:v>Illinois</c:v>
                </c:pt>
                <c:pt idx="9">
                  <c:v>Indiana</c:v>
                </c:pt>
                <c:pt idx="10">
                  <c:v>LA</c:v>
                </c:pt>
                <c:pt idx="11">
                  <c:v>Maryland</c:v>
                </c:pt>
                <c:pt idx="12">
                  <c:v>Massachusetts</c:v>
                </c:pt>
                <c:pt idx="13">
                  <c:v>Michigan</c:v>
                </c:pt>
                <c:pt idx="14">
                  <c:v>Minnesota</c:v>
                </c:pt>
                <c:pt idx="15">
                  <c:v>Missouri</c:v>
                </c:pt>
                <c:pt idx="16">
                  <c:v>MS</c:v>
                </c:pt>
                <c:pt idx="17">
                  <c:v>NE</c:v>
                </c:pt>
                <c:pt idx="18">
                  <c:v>Nevada</c:v>
                </c:pt>
                <c:pt idx="19">
                  <c:v>New Jersey</c:v>
                </c:pt>
                <c:pt idx="20">
                  <c:v>New York</c:v>
                </c:pt>
                <c:pt idx="21">
                  <c:v>NM</c:v>
                </c:pt>
                <c:pt idx="22">
                  <c:v>North Carolina</c:v>
                </c:pt>
                <c:pt idx="23">
                  <c:v>NS</c:v>
                </c:pt>
                <c:pt idx="24">
                  <c:v>Ohio</c:v>
                </c:pt>
                <c:pt idx="25">
                  <c:v>OK</c:v>
                </c:pt>
                <c:pt idx="26">
                  <c:v>ON</c:v>
                </c:pt>
                <c:pt idx="27">
                  <c:v>Oregon</c:v>
                </c:pt>
                <c:pt idx="28">
                  <c:v>Pennsylvania</c:v>
                </c:pt>
                <c:pt idx="29">
                  <c:v>PR</c:v>
                </c:pt>
                <c:pt idx="30">
                  <c:v>QC</c:v>
                </c:pt>
                <c:pt idx="31">
                  <c:v>South Carolina</c:v>
                </c:pt>
                <c:pt idx="32">
                  <c:v>Tennessee</c:v>
                </c:pt>
                <c:pt idx="33">
                  <c:v>Texas</c:v>
                </c:pt>
                <c:pt idx="34">
                  <c:v>Utah</c:v>
                </c:pt>
                <c:pt idx="35">
                  <c:v>Virginia</c:v>
                </c:pt>
                <c:pt idx="36">
                  <c:v>Washington</c:v>
                </c:pt>
                <c:pt idx="37">
                  <c:v>Wisconsin</c:v>
                </c:pt>
              </c:strCache>
            </c:strRef>
          </c:cat>
          <c:val>
            <c:numRef>
              <c:f>Sheet18!$B$4:$B$42</c:f>
              <c:numCache>
                <c:formatCode>General</c:formatCode>
                <c:ptCount val="38"/>
                <c:pt idx="0">
                  <c:v>113023793</c:v>
                </c:pt>
                <c:pt idx="1">
                  <c:v>2584947</c:v>
                </c:pt>
                <c:pt idx="2">
                  <c:v>654834626</c:v>
                </c:pt>
                <c:pt idx="3">
                  <c:v>5070453982</c:v>
                </c:pt>
                <c:pt idx="4">
                  <c:v>421112420</c:v>
                </c:pt>
                <c:pt idx="5">
                  <c:v>5345917208</c:v>
                </c:pt>
                <c:pt idx="6">
                  <c:v>2668928953</c:v>
                </c:pt>
                <c:pt idx="7">
                  <c:v>57556979</c:v>
                </c:pt>
                <c:pt idx="8">
                  <c:v>1134168634</c:v>
                </c:pt>
                <c:pt idx="9">
                  <c:v>319243569</c:v>
                </c:pt>
                <c:pt idx="10">
                  <c:v>197749106</c:v>
                </c:pt>
                <c:pt idx="11">
                  <c:v>1144077251</c:v>
                </c:pt>
                <c:pt idx="12">
                  <c:v>728506313</c:v>
                </c:pt>
                <c:pt idx="13">
                  <c:v>956658736</c:v>
                </c:pt>
                <c:pt idx="14">
                  <c:v>606829923</c:v>
                </c:pt>
                <c:pt idx="15">
                  <c:v>959383626</c:v>
                </c:pt>
                <c:pt idx="16">
                  <c:v>148948515</c:v>
                </c:pt>
                <c:pt idx="17">
                  <c:v>303370660</c:v>
                </c:pt>
                <c:pt idx="18">
                  <c:v>784633520</c:v>
                </c:pt>
                <c:pt idx="19">
                  <c:v>1712903483</c:v>
                </c:pt>
                <c:pt idx="20">
                  <c:v>424426080</c:v>
                </c:pt>
                <c:pt idx="21">
                  <c:v>17900268</c:v>
                </c:pt>
                <c:pt idx="22">
                  <c:v>2250199193</c:v>
                </c:pt>
                <c:pt idx="23">
                  <c:v>5252475</c:v>
                </c:pt>
                <c:pt idx="24">
                  <c:v>1394581413</c:v>
                </c:pt>
                <c:pt idx="25">
                  <c:v>9199786</c:v>
                </c:pt>
                <c:pt idx="26">
                  <c:v>211854358</c:v>
                </c:pt>
                <c:pt idx="27">
                  <c:v>79075348</c:v>
                </c:pt>
                <c:pt idx="28">
                  <c:v>2862044707</c:v>
                </c:pt>
                <c:pt idx="29">
                  <c:v>157179742</c:v>
                </c:pt>
                <c:pt idx="30">
                  <c:v>94334658</c:v>
                </c:pt>
                <c:pt idx="31">
                  <c:v>380827347</c:v>
                </c:pt>
                <c:pt idx="32">
                  <c:v>1088710590</c:v>
                </c:pt>
                <c:pt idx="33">
                  <c:v>3374614666</c:v>
                </c:pt>
                <c:pt idx="34">
                  <c:v>171316842</c:v>
                </c:pt>
                <c:pt idx="35">
                  <c:v>1186785547</c:v>
                </c:pt>
                <c:pt idx="36">
                  <c:v>481640477</c:v>
                </c:pt>
                <c:pt idx="37">
                  <c:v>652501245</c:v>
                </c:pt>
              </c:numCache>
            </c:numRef>
          </c:val>
          <c:extLst>
            <c:ext xmlns:c16="http://schemas.microsoft.com/office/drawing/2014/chart" uri="{C3380CC4-5D6E-409C-BE32-E72D297353CC}">
              <c16:uniqueId val="{00000000-0249-41E6-80AC-6D7C6C3A122C}"/>
            </c:ext>
          </c:extLst>
        </c:ser>
        <c:ser>
          <c:idx val="1"/>
          <c:order val="1"/>
          <c:tx>
            <c:strRef>
              <c:f>Sheet18!$C$3</c:f>
              <c:strCache>
                <c:ptCount val="1"/>
                <c:pt idx="0">
                  <c:v>Sum of total_mmr_value</c:v>
                </c:pt>
              </c:strCache>
            </c:strRef>
          </c:tx>
          <c:spPr>
            <a:solidFill>
              <a:schemeClr val="accent2"/>
            </a:solidFill>
            <a:ln>
              <a:noFill/>
            </a:ln>
            <a:effectLst/>
          </c:spPr>
          <c:invertIfNegative val="0"/>
          <c:cat>
            <c:strRef>
              <c:f>Sheet18!$A$4:$A$42</c:f>
              <c:strCache>
                <c:ptCount val="38"/>
                <c:pt idx="0">
                  <c:v>AB</c:v>
                </c:pt>
                <c:pt idx="1">
                  <c:v>Alabama</c:v>
                </c:pt>
                <c:pt idx="2">
                  <c:v>Arizona</c:v>
                </c:pt>
                <c:pt idx="3">
                  <c:v>California</c:v>
                </c:pt>
                <c:pt idx="4">
                  <c:v>Colorado</c:v>
                </c:pt>
                <c:pt idx="5">
                  <c:v>Florida</c:v>
                </c:pt>
                <c:pt idx="6">
                  <c:v>Georgia</c:v>
                </c:pt>
                <c:pt idx="7">
                  <c:v>HI</c:v>
                </c:pt>
                <c:pt idx="8">
                  <c:v>Illinois</c:v>
                </c:pt>
                <c:pt idx="9">
                  <c:v>Indiana</c:v>
                </c:pt>
                <c:pt idx="10">
                  <c:v>LA</c:v>
                </c:pt>
                <c:pt idx="11">
                  <c:v>Maryland</c:v>
                </c:pt>
                <c:pt idx="12">
                  <c:v>Massachusetts</c:v>
                </c:pt>
                <c:pt idx="13">
                  <c:v>Michigan</c:v>
                </c:pt>
                <c:pt idx="14">
                  <c:v>Minnesota</c:v>
                </c:pt>
                <c:pt idx="15">
                  <c:v>Missouri</c:v>
                </c:pt>
                <c:pt idx="16">
                  <c:v>MS</c:v>
                </c:pt>
                <c:pt idx="17">
                  <c:v>NE</c:v>
                </c:pt>
                <c:pt idx="18">
                  <c:v>Nevada</c:v>
                </c:pt>
                <c:pt idx="19">
                  <c:v>New Jersey</c:v>
                </c:pt>
                <c:pt idx="20">
                  <c:v>New York</c:v>
                </c:pt>
                <c:pt idx="21">
                  <c:v>NM</c:v>
                </c:pt>
                <c:pt idx="22">
                  <c:v>North Carolina</c:v>
                </c:pt>
                <c:pt idx="23">
                  <c:v>NS</c:v>
                </c:pt>
                <c:pt idx="24">
                  <c:v>Ohio</c:v>
                </c:pt>
                <c:pt idx="25">
                  <c:v>OK</c:v>
                </c:pt>
                <c:pt idx="26">
                  <c:v>ON</c:v>
                </c:pt>
                <c:pt idx="27">
                  <c:v>Oregon</c:v>
                </c:pt>
                <c:pt idx="28">
                  <c:v>Pennsylvania</c:v>
                </c:pt>
                <c:pt idx="29">
                  <c:v>PR</c:v>
                </c:pt>
                <c:pt idx="30">
                  <c:v>QC</c:v>
                </c:pt>
                <c:pt idx="31">
                  <c:v>South Carolina</c:v>
                </c:pt>
                <c:pt idx="32">
                  <c:v>Tennessee</c:v>
                </c:pt>
                <c:pt idx="33">
                  <c:v>Texas</c:v>
                </c:pt>
                <c:pt idx="34">
                  <c:v>Utah</c:v>
                </c:pt>
                <c:pt idx="35">
                  <c:v>Virginia</c:v>
                </c:pt>
                <c:pt idx="36">
                  <c:v>Washington</c:v>
                </c:pt>
                <c:pt idx="37">
                  <c:v>Wisconsin</c:v>
                </c:pt>
              </c:strCache>
            </c:strRef>
          </c:cat>
          <c:val>
            <c:numRef>
              <c:f>Sheet18!$C$4:$C$42</c:f>
              <c:numCache>
                <c:formatCode>General</c:formatCode>
                <c:ptCount val="38"/>
                <c:pt idx="0">
                  <c:v>11096525</c:v>
                </c:pt>
                <c:pt idx="1">
                  <c:v>257000</c:v>
                </c:pt>
                <c:pt idx="2">
                  <c:v>102882550</c:v>
                </c:pt>
                <c:pt idx="3">
                  <c:v>1059956500</c:v>
                </c:pt>
                <c:pt idx="4">
                  <c:v>123104300</c:v>
                </c:pt>
                <c:pt idx="5">
                  <c:v>1162647525</c:v>
                </c:pt>
                <c:pt idx="6">
                  <c:v>450107675</c:v>
                </c:pt>
                <c:pt idx="7">
                  <c:v>16217275</c:v>
                </c:pt>
                <c:pt idx="8">
                  <c:v>351225750</c:v>
                </c:pt>
                <c:pt idx="9">
                  <c:v>48493500</c:v>
                </c:pt>
                <c:pt idx="10">
                  <c:v>24005475</c:v>
                </c:pt>
                <c:pt idx="11">
                  <c:v>89435625</c:v>
                </c:pt>
                <c:pt idx="12">
                  <c:v>49632950</c:v>
                </c:pt>
                <c:pt idx="13">
                  <c:v>236407500</c:v>
                </c:pt>
                <c:pt idx="14">
                  <c:v>129762550</c:v>
                </c:pt>
                <c:pt idx="15">
                  <c:v>231891425</c:v>
                </c:pt>
                <c:pt idx="16">
                  <c:v>21736250</c:v>
                </c:pt>
                <c:pt idx="17">
                  <c:v>50551500</c:v>
                </c:pt>
                <c:pt idx="18">
                  <c:v>190891600</c:v>
                </c:pt>
                <c:pt idx="19">
                  <c:v>392541125</c:v>
                </c:pt>
                <c:pt idx="20">
                  <c:v>70366725</c:v>
                </c:pt>
                <c:pt idx="21">
                  <c:v>1281750</c:v>
                </c:pt>
                <c:pt idx="22">
                  <c:v>186902125</c:v>
                </c:pt>
                <c:pt idx="23">
                  <c:v>658275</c:v>
                </c:pt>
                <c:pt idx="24">
                  <c:v>314201525</c:v>
                </c:pt>
                <c:pt idx="25">
                  <c:v>558750</c:v>
                </c:pt>
                <c:pt idx="26">
                  <c:v>60889750</c:v>
                </c:pt>
                <c:pt idx="27">
                  <c:v>13572450</c:v>
                </c:pt>
                <c:pt idx="28">
                  <c:v>870681225</c:v>
                </c:pt>
                <c:pt idx="29">
                  <c:v>26739450</c:v>
                </c:pt>
                <c:pt idx="30">
                  <c:v>16882725</c:v>
                </c:pt>
                <c:pt idx="31">
                  <c:v>44931725</c:v>
                </c:pt>
                <c:pt idx="32">
                  <c:v>353229300</c:v>
                </c:pt>
                <c:pt idx="33">
                  <c:v>616791325</c:v>
                </c:pt>
                <c:pt idx="34">
                  <c:v>24039325</c:v>
                </c:pt>
                <c:pt idx="35">
                  <c:v>106785400</c:v>
                </c:pt>
                <c:pt idx="36">
                  <c:v>101261650</c:v>
                </c:pt>
                <c:pt idx="37">
                  <c:v>141696300</c:v>
                </c:pt>
              </c:numCache>
            </c:numRef>
          </c:val>
          <c:extLst>
            <c:ext xmlns:c16="http://schemas.microsoft.com/office/drawing/2014/chart" uri="{C3380CC4-5D6E-409C-BE32-E72D297353CC}">
              <c16:uniqueId val="{00000001-0249-41E6-80AC-6D7C6C3A122C}"/>
            </c:ext>
          </c:extLst>
        </c:ser>
        <c:dLbls>
          <c:showLegendKey val="0"/>
          <c:showVal val="0"/>
          <c:showCatName val="0"/>
          <c:showSerName val="0"/>
          <c:showPercent val="0"/>
          <c:showBubbleSize val="0"/>
        </c:dLbls>
        <c:gapWidth val="150"/>
        <c:overlap val="100"/>
        <c:axId val="1949444143"/>
        <c:axId val="1949442703"/>
      </c:barChart>
      <c:catAx>
        <c:axId val="194944414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949442703"/>
        <c:crosses val="autoZero"/>
        <c:auto val="1"/>
        <c:lblAlgn val="ctr"/>
        <c:lblOffset val="100"/>
        <c:noMultiLvlLbl val="0"/>
      </c:catAx>
      <c:valAx>
        <c:axId val="1949442703"/>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949444143"/>
        <c:crosses val="autoZero"/>
        <c:crossBetween val="between"/>
        <c:dispUnits>
          <c:builtInUnit val="millions"/>
          <c:dispUnitsLbl>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dispUnitsLbl>
        </c:dispUnits>
      </c:valAx>
      <c:spPr>
        <a:noFill/>
        <a:ln>
          <a:noFill/>
        </a:ln>
        <a:effectLst/>
      </c:spPr>
    </c:plotArea>
    <c:legend>
      <c:legendPos val="r"/>
      <c:layout>
        <c:manualLayout>
          <c:xMode val="edge"/>
          <c:yMode val="edge"/>
          <c:x val="0.59876005883879901"/>
          <c:y val="2.0429954242940095E-2"/>
          <c:w val="0.39940843932969916"/>
          <c:h val="0.10038964777965055"/>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4">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pivotSource>
    <c:name>[V3_Summary.xlsb]Sheet15!PivotTable38</c:name>
    <c:fmtId val="9"/>
  </c:pivotSource>
  <c:chart>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0.15292393257681891"/>
          <c:y val="3.2105982376412649E-2"/>
          <c:w val="0.82797401579534224"/>
          <c:h val="0.77996186811312873"/>
        </c:manualLayout>
      </c:layout>
      <c:barChart>
        <c:barDir val="col"/>
        <c:grouping val="clustered"/>
        <c:varyColors val="0"/>
        <c:ser>
          <c:idx val="0"/>
          <c:order val="0"/>
          <c:tx>
            <c:strRef>
              <c:f>Sheet15!$B$3</c:f>
              <c:strCache>
                <c:ptCount val="1"/>
                <c:pt idx="0">
                  <c:v>Sum of total_revenue</c:v>
                </c:pt>
              </c:strCache>
            </c:strRef>
          </c:tx>
          <c:spPr>
            <a:solidFill>
              <a:schemeClr val="accent1"/>
            </a:solidFill>
            <a:ln>
              <a:noFill/>
            </a:ln>
            <a:effectLst/>
          </c:spPr>
          <c:invertIfNegative val="0"/>
          <c:cat>
            <c:strRef>
              <c:f>Sheet15!$A$4:$A$71</c:f>
              <c:strCache>
                <c:ptCount val="67"/>
                <c:pt idx="0">
                  <c:v>acura</c:v>
                </c:pt>
                <c:pt idx="1">
                  <c:v>airstream</c:v>
                </c:pt>
                <c:pt idx="2">
                  <c:v>aston martin</c:v>
                </c:pt>
                <c:pt idx="3">
                  <c:v>audi</c:v>
                </c:pt>
                <c:pt idx="4">
                  <c:v>bentley</c:v>
                </c:pt>
                <c:pt idx="5">
                  <c:v>bmw</c:v>
                </c:pt>
                <c:pt idx="6">
                  <c:v>buick</c:v>
                </c:pt>
                <c:pt idx="7">
                  <c:v>cadillac</c:v>
                </c:pt>
                <c:pt idx="8">
                  <c:v>chev truck</c:v>
                </c:pt>
                <c:pt idx="9">
                  <c:v>chevrolet</c:v>
                </c:pt>
                <c:pt idx="10">
                  <c:v>chrysler</c:v>
                </c:pt>
                <c:pt idx="11">
                  <c:v>daewoo</c:v>
                </c:pt>
                <c:pt idx="12">
                  <c:v>dodge</c:v>
                </c:pt>
                <c:pt idx="13">
                  <c:v>dodge tk</c:v>
                </c:pt>
                <c:pt idx="14">
                  <c:v>dot</c:v>
                </c:pt>
                <c:pt idx="15">
                  <c:v>ferrari</c:v>
                </c:pt>
                <c:pt idx="16">
                  <c:v>fiat</c:v>
                </c:pt>
                <c:pt idx="17">
                  <c:v>fisker</c:v>
                </c:pt>
                <c:pt idx="18">
                  <c:v>ford</c:v>
                </c:pt>
                <c:pt idx="19">
                  <c:v>ford tk</c:v>
                </c:pt>
                <c:pt idx="20">
                  <c:v>ford truck</c:v>
                </c:pt>
                <c:pt idx="21">
                  <c:v>geo</c:v>
                </c:pt>
                <c:pt idx="22">
                  <c:v>gmc</c:v>
                </c:pt>
                <c:pt idx="23">
                  <c:v>gmc truck</c:v>
                </c:pt>
                <c:pt idx="24">
                  <c:v>honda</c:v>
                </c:pt>
                <c:pt idx="25">
                  <c:v>hummer</c:v>
                </c:pt>
                <c:pt idx="26">
                  <c:v>hyundai</c:v>
                </c:pt>
                <c:pt idx="27">
                  <c:v>hyundai tk</c:v>
                </c:pt>
                <c:pt idx="28">
                  <c:v>infiniti</c:v>
                </c:pt>
                <c:pt idx="29">
                  <c:v>isuzu</c:v>
                </c:pt>
                <c:pt idx="30">
                  <c:v>jaguar</c:v>
                </c:pt>
                <c:pt idx="31">
                  <c:v>jeep</c:v>
                </c:pt>
                <c:pt idx="32">
                  <c:v>kia</c:v>
                </c:pt>
                <c:pt idx="33">
                  <c:v>lamborghini</c:v>
                </c:pt>
                <c:pt idx="34">
                  <c:v>land rover</c:v>
                </c:pt>
                <c:pt idx="35">
                  <c:v>landrover</c:v>
                </c:pt>
                <c:pt idx="36">
                  <c:v>lexus</c:v>
                </c:pt>
                <c:pt idx="37">
                  <c:v>lincoln</c:v>
                </c:pt>
                <c:pt idx="38">
                  <c:v>lotus</c:v>
                </c:pt>
                <c:pt idx="39">
                  <c:v>maserati</c:v>
                </c:pt>
                <c:pt idx="40">
                  <c:v>mazda</c:v>
                </c:pt>
                <c:pt idx="41">
                  <c:v>mazda tk</c:v>
                </c:pt>
                <c:pt idx="42">
                  <c:v>mercedes</c:v>
                </c:pt>
                <c:pt idx="43">
                  <c:v>mercedes-b</c:v>
                </c:pt>
                <c:pt idx="44">
                  <c:v>mercedes-benz</c:v>
                </c:pt>
                <c:pt idx="45">
                  <c:v>mercury</c:v>
                </c:pt>
                <c:pt idx="46">
                  <c:v>mini</c:v>
                </c:pt>
                <c:pt idx="47">
                  <c:v>mitsubishi</c:v>
                </c:pt>
                <c:pt idx="48">
                  <c:v>nissan</c:v>
                </c:pt>
                <c:pt idx="49">
                  <c:v>oldsmobile</c:v>
                </c:pt>
                <c:pt idx="50">
                  <c:v>plymouth</c:v>
                </c:pt>
                <c:pt idx="51">
                  <c:v>pontiac</c:v>
                </c:pt>
                <c:pt idx="52">
                  <c:v>porsche</c:v>
                </c:pt>
                <c:pt idx="53">
                  <c:v>ram</c:v>
                </c:pt>
                <c:pt idx="54">
                  <c:v>rolls-royce</c:v>
                </c:pt>
                <c:pt idx="55">
                  <c:v>saab</c:v>
                </c:pt>
                <c:pt idx="56">
                  <c:v>saturn</c:v>
                </c:pt>
                <c:pt idx="57">
                  <c:v>scion</c:v>
                </c:pt>
                <c:pt idx="58">
                  <c:v>smart</c:v>
                </c:pt>
                <c:pt idx="59">
                  <c:v>subaru</c:v>
                </c:pt>
                <c:pt idx="60">
                  <c:v>suzuki</c:v>
                </c:pt>
                <c:pt idx="61">
                  <c:v>tesla</c:v>
                </c:pt>
                <c:pt idx="62">
                  <c:v>toyota</c:v>
                </c:pt>
                <c:pt idx="63">
                  <c:v>volkswagen</c:v>
                </c:pt>
                <c:pt idx="64">
                  <c:v>volvo</c:v>
                </c:pt>
                <c:pt idx="65">
                  <c:v>vw</c:v>
                </c:pt>
                <c:pt idx="66">
                  <c:v>(blank)</c:v>
                </c:pt>
              </c:strCache>
            </c:strRef>
          </c:cat>
          <c:val>
            <c:numRef>
              <c:f>Sheet15!$B$4:$B$71</c:f>
              <c:numCache>
                <c:formatCode>General</c:formatCode>
                <c:ptCount val="67"/>
                <c:pt idx="0">
                  <c:v>82866800</c:v>
                </c:pt>
                <c:pt idx="1">
                  <c:v>71000</c:v>
                </c:pt>
                <c:pt idx="2">
                  <c:v>1370300</c:v>
                </c:pt>
                <c:pt idx="3">
                  <c:v>117015975</c:v>
                </c:pt>
                <c:pt idx="4">
                  <c:v>8626650</c:v>
                </c:pt>
                <c:pt idx="5">
                  <c:v>446509513</c:v>
                </c:pt>
                <c:pt idx="6">
                  <c:v>54843675</c:v>
                </c:pt>
                <c:pt idx="7">
                  <c:v>114987871</c:v>
                </c:pt>
                <c:pt idx="8">
                  <c:v>2000</c:v>
                </c:pt>
                <c:pt idx="9">
                  <c:v>723369949</c:v>
                </c:pt>
                <c:pt idx="10">
                  <c:v>193504416</c:v>
                </c:pt>
                <c:pt idx="11">
                  <c:v>1200</c:v>
                </c:pt>
                <c:pt idx="12">
                  <c:v>345561569</c:v>
                </c:pt>
                <c:pt idx="13">
                  <c:v>550</c:v>
                </c:pt>
                <c:pt idx="14">
                  <c:v>500</c:v>
                </c:pt>
                <c:pt idx="15">
                  <c:v>2417000</c:v>
                </c:pt>
                <c:pt idx="16">
                  <c:v>8967877</c:v>
                </c:pt>
                <c:pt idx="17">
                  <c:v>418150</c:v>
                </c:pt>
                <c:pt idx="18">
                  <c:v>1362577082</c:v>
                </c:pt>
                <c:pt idx="19">
                  <c:v>2800</c:v>
                </c:pt>
                <c:pt idx="20">
                  <c:v>1450</c:v>
                </c:pt>
                <c:pt idx="21">
                  <c:v>10050</c:v>
                </c:pt>
                <c:pt idx="22">
                  <c:v>180031170</c:v>
                </c:pt>
                <c:pt idx="23">
                  <c:v>76125</c:v>
                </c:pt>
                <c:pt idx="24">
                  <c:v>298273884</c:v>
                </c:pt>
                <c:pt idx="25">
                  <c:v>12291938</c:v>
                </c:pt>
                <c:pt idx="26">
                  <c:v>240212386</c:v>
                </c:pt>
                <c:pt idx="27">
                  <c:v>2100</c:v>
                </c:pt>
                <c:pt idx="28">
                  <c:v>312489190</c:v>
                </c:pt>
                <c:pt idx="29">
                  <c:v>348676</c:v>
                </c:pt>
                <c:pt idx="30">
                  <c:v>28091176</c:v>
                </c:pt>
                <c:pt idx="31">
                  <c:v>231513328</c:v>
                </c:pt>
                <c:pt idx="32">
                  <c:v>213479263</c:v>
                </c:pt>
                <c:pt idx="33">
                  <c:v>450500</c:v>
                </c:pt>
                <c:pt idx="34">
                  <c:v>58935605</c:v>
                </c:pt>
                <c:pt idx="35">
                  <c:v>310950</c:v>
                </c:pt>
                <c:pt idx="36">
                  <c:v>242163555</c:v>
                </c:pt>
                <c:pt idx="37">
                  <c:v>97434515</c:v>
                </c:pt>
                <c:pt idx="38">
                  <c:v>40800</c:v>
                </c:pt>
                <c:pt idx="39">
                  <c:v>6112800</c:v>
                </c:pt>
                <c:pt idx="40">
                  <c:v>85506092</c:v>
                </c:pt>
                <c:pt idx="41">
                  <c:v>6500</c:v>
                </c:pt>
                <c:pt idx="42">
                  <c:v>523000</c:v>
                </c:pt>
                <c:pt idx="43">
                  <c:v>27300</c:v>
                </c:pt>
                <c:pt idx="44">
                  <c:v>370083906</c:v>
                </c:pt>
                <c:pt idx="45">
                  <c:v>7904400</c:v>
                </c:pt>
                <c:pt idx="46">
                  <c:v>39699250</c:v>
                </c:pt>
                <c:pt idx="47">
                  <c:v>34844583</c:v>
                </c:pt>
                <c:pt idx="48">
                  <c:v>633703805</c:v>
                </c:pt>
                <c:pt idx="49">
                  <c:v>360750</c:v>
                </c:pt>
                <c:pt idx="50">
                  <c:v>196775</c:v>
                </c:pt>
                <c:pt idx="51">
                  <c:v>16975076</c:v>
                </c:pt>
                <c:pt idx="52">
                  <c:v>55859801</c:v>
                </c:pt>
                <c:pt idx="53">
                  <c:v>115721911</c:v>
                </c:pt>
                <c:pt idx="54">
                  <c:v>2609300</c:v>
                </c:pt>
                <c:pt idx="55">
                  <c:v>1756000</c:v>
                </c:pt>
                <c:pt idx="56">
                  <c:v>9618000</c:v>
                </c:pt>
                <c:pt idx="57">
                  <c:v>16159450</c:v>
                </c:pt>
                <c:pt idx="58">
                  <c:v>2469800</c:v>
                </c:pt>
                <c:pt idx="59">
                  <c:v>77799636</c:v>
                </c:pt>
                <c:pt idx="60">
                  <c:v>4212120</c:v>
                </c:pt>
                <c:pt idx="61">
                  <c:v>1542250</c:v>
                </c:pt>
                <c:pt idx="62">
                  <c:v>489089925</c:v>
                </c:pt>
                <c:pt idx="63">
                  <c:v>117848584</c:v>
                </c:pt>
                <c:pt idx="64">
                  <c:v>43425452</c:v>
                </c:pt>
                <c:pt idx="65">
                  <c:v>328150</c:v>
                </c:pt>
                <c:pt idx="66">
                  <c:v>92356133</c:v>
                </c:pt>
              </c:numCache>
            </c:numRef>
          </c:val>
          <c:extLst>
            <c:ext xmlns:c16="http://schemas.microsoft.com/office/drawing/2014/chart" uri="{C3380CC4-5D6E-409C-BE32-E72D297353CC}">
              <c16:uniqueId val="{00000000-3894-44A4-A7D2-50C286818116}"/>
            </c:ext>
          </c:extLst>
        </c:ser>
        <c:ser>
          <c:idx val="1"/>
          <c:order val="1"/>
          <c:tx>
            <c:strRef>
              <c:f>Sheet15!$C$3</c:f>
              <c:strCache>
                <c:ptCount val="1"/>
                <c:pt idx="0">
                  <c:v>Sum of total_mmr_value</c:v>
                </c:pt>
              </c:strCache>
            </c:strRef>
          </c:tx>
          <c:spPr>
            <a:solidFill>
              <a:schemeClr val="accent2"/>
            </a:solidFill>
            <a:ln>
              <a:noFill/>
            </a:ln>
            <a:effectLst/>
          </c:spPr>
          <c:invertIfNegative val="0"/>
          <c:cat>
            <c:strRef>
              <c:f>Sheet15!$A$4:$A$71</c:f>
              <c:strCache>
                <c:ptCount val="67"/>
                <c:pt idx="0">
                  <c:v>acura</c:v>
                </c:pt>
                <c:pt idx="1">
                  <c:v>airstream</c:v>
                </c:pt>
                <c:pt idx="2">
                  <c:v>aston martin</c:v>
                </c:pt>
                <c:pt idx="3">
                  <c:v>audi</c:v>
                </c:pt>
                <c:pt idx="4">
                  <c:v>bentley</c:v>
                </c:pt>
                <c:pt idx="5">
                  <c:v>bmw</c:v>
                </c:pt>
                <c:pt idx="6">
                  <c:v>buick</c:v>
                </c:pt>
                <c:pt idx="7">
                  <c:v>cadillac</c:v>
                </c:pt>
                <c:pt idx="8">
                  <c:v>chev truck</c:v>
                </c:pt>
                <c:pt idx="9">
                  <c:v>chevrolet</c:v>
                </c:pt>
                <c:pt idx="10">
                  <c:v>chrysler</c:v>
                </c:pt>
                <c:pt idx="11">
                  <c:v>daewoo</c:v>
                </c:pt>
                <c:pt idx="12">
                  <c:v>dodge</c:v>
                </c:pt>
                <c:pt idx="13">
                  <c:v>dodge tk</c:v>
                </c:pt>
                <c:pt idx="14">
                  <c:v>dot</c:v>
                </c:pt>
                <c:pt idx="15">
                  <c:v>ferrari</c:v>
                </c:pt>
                <c:pt idx="16">
                  <c:v>fiat</c:v>
                </c:pt>
                <c:pt idx="17">
                  <c:v>fisker</c:v>
                </c:pt>
                <c:pt idx="18">
                  <c:v>ford</c:v>
                </c:pt>
                <c:pt idx="19">
                  <c:v>ford tk</c:v>
                </c:pt>
                <c:pt idx="20">
                  <c:v>ford truck</c:v>
                </c:pt>
                <c:pt idx="21">
                  <c:v>geo</c:v>
                </c:pt>
                <c:pt idx="22">
                  <c:v>gmc</c:v>
                </c:pt>
                <c:pt idx="23">
                  <c:v>gmc truck</c:v>
                </c:pt>
                <c:pt idx="24">
                  <c:v>honda</c:v>
                </c:pt>
                <c:pt idx="25">
                  <c:v>hummer</c:v>
                </c:pt>
                <c:pt idx="26">
                  <c:v>hyundai</c:v>
                </c:pt>
                <c:pt idx="27">
                  <c:v>hyundai tk</c:v>
                </c:pt>
                <c:pt idx="28">
                  <c:v>infiniti</c:v>
                </c:pt>
                <c:pt idx="29">
                  <c:v>isuzu</c:v>
                </c:pt>
                <c:pt idx="30">
                  <c:v>jaguar</c:v>
                </c:pt>
                <c:pt idx="31">
                  <c:v>jeep</c:v>
                </c:pt>
                <c:pt idx="32">
                  <c:v>kia</c:v>
                </c:pt>
                <c:pt idx="33">
                  <c:v>lamborghini</c:v>
                </c:pt>
                <c:pt idx="34">
                  <c:v>land rover</c:v>
                </c:pt>
                <c:pt idx="35">
                  <c:v>landrover</c:v>
                </c:pt>
                <c:pt idx="36">
                  <c:v>lexus</c:v>
                </c:pt>
                <c:pt idx="37">
                  <c:v>lincoln</c:v>
                </c:pt>
                <c:pt idx="38">
                  <c:v>lotus</c:v>
                </c:pt>
                <c:pt idx="39">
                  <c:v>maserati</c:v>
                </c:pt>
                <c:pt idx="40">
                  <c:v>mazda</c:v>
                </c:pt>
                <c:pt idx="41">
                  <c:v>mazda tk</c:v>
                </c:pt>
                <c:pt idx="42">
                  <c:v>mercedes</c:v>
                </c:pt>
                <c:pt idx="43">
                  <c:v>mercedes-b</c:v>
                </c:pt>
                <c:pt idx="44">
                  <c:v>mercedes-benz</c:v>
                </c:pt>
                <c:pt idx="45">
                  <c:v>mercury</c:v>
                </c:pt>
                <c:pt idx="46">
                  <c:v>mini</c:v>
                </c:pt>
                <c:pt idx="47">
                  <c:v>mitsubishi</c:v>
                </c:pt>
                <c:pt idx="48">
                  <c:v>nissan</c:v>
                </c:pt>
                <c:pt idx="49">
                  <c:v>oldsmobile</c:v>
                </c:pt>
                <c:pt idx="50">
                  <c:v>plymouth</c:v>
                </c:pt>
                <c:pt idx="51">
                  <c:v>pontiac</c:v>
                </c:pt>
                <c:pt idx="52">
                  <c:v>porsche</c:v>
                </c:pt>
                <c:pt idx="53">
                  <c:v>ram</c:v>
                </c:pt>
                <c:pt idx="54">
                  <c:v>rolls-royce</c:v>
                </c:pt>
                <c:pt idx="55">
                  <c:v>saab</c:v>
                </c:pt>
                <c:pt idx="56">
                  <c:v>saturn</c:v>
                </c:pt>
                <c:pt idx="57">
                  <c:v>scion</c:v>
                </c:pt>
                <c:pt idx="58">
                  <c:v>smart</c:v>
                </c:pt>
                <c:pt idx="59">
                  <c:v>subaru</c:v>
                </c:pt>
                <c:pt idx="60">
                  <c:v>suzuki</c:v>
                </c:pt>
                <c:pt idx="61">
                  <c:v>tesla</c:v>
                </c:pt>
                <c:pt idx="62">
                  <c:v>toyota</c:v>
                </c:pt>
                <c:pt idx="63">
                  <c:v>volkswagen</c:v>
                </c:pt>
                <c:pt idx="64">
                  <c:v>volvo</c:v>
                </c:pt>
                <c:pt idx="65">
                  <c:v>vw</c:v>
                </c:pt>
                <c:pt idx="66">
                  <c:v>(blank)</c:v>
                </c:pt>
              </c:strCache>
            </c:strRef>
          </c:cat>
          <c:val>
            <c:numRef>
              <c:f>Sheet15!$C$4:$C$71</c:f>
              <c:numCache>
                <c:formatCode>General</c:formatCode>
                <c:ptCount val="67"/>
                <c:pt idx="0">
                  <c:v>83220225</c:v>
                </c:pt>
                <c:pt idx="1">
                  <c:v>29500</c:v>
                </c:pt>
                <c:pt idx="2">
                  <c:v>1339000</c:v>
                </c:pt>
                <c:pt idx="3">
                  <c:v>117983400</c:v>
                </c:pt>
                <c:pt idx="4">
                  <c:v>8807700</c:v>
                </c:pt>
                <c:pt idx="5">
                  <c:v>449299250</c:v>
                </c:pt>
                <c:pt idx="6">
                  <c:v>55800925</c:v>
                </c:pt>
                <c:pt idx="7">
                  <c:v>115897600</c:v>
                </c:pt>
                <c:pt idx="8">
                  <c:v>1925</c:v>
                </c:pt>
                <c:pt idx="9">
                  <c:v>733763300</c:v>
                </c:pt>
                <c:pt idx="10">
                  <c:v>197837750</c:v>
                </c:pt>
                <c:pt idx="11">
                  <c:v>1900</c:v>
                </c:pt>
                <c:pt idx="12">
                  <c:v>352031150</c:v>
                </c:pt>
                <c:pt idx="13">
                  <c:v>625</c:v>
                </c:pt>
                <c:pt idx="14">
                  <c:v>850</c:v>
                </c:pt>
                <c:pt idx="15">
                  <c:v>2455000</c:v>
                </c:pt>
                <c:pt idx="16">
                  <c:v>9113500</c:v>
                </c:pt>
                <c:pt idx="17">
                  <c:v>441900</c:v>
                </c:pt>
                <c:pt idx="18">
                  <c:v>1380667750</c:v>
                </c:pt>
                <c:pt idx="19">
                  <c:v>3475</c:v>
                </c:pt>
                <c:pt idx="20">
                  <c:v>1650</c:v>
                </c:pt>
                <c:pt idx="21">
                  <c:v>11575</c:v>
                </c:pt>
                <c:pt idx="22">
                  <c:v>181148725</c:v>
                </c:pt>
                <c:pt idx="23">
                  <c:v>71400</c:v>
                </c:pt>
                <c:pt idx="24">
                  <c:v>299958375</c:v>
                </c:pt>
                <c:pt idx="25">
                  <c:v>12088575</c:v>
                </c:pt>
                <c:pt idx="26">
                  <c:v>245044800</c:v>
                </c:pt>
                <c:pt idx="27">
                  <c:v>1875</c:v>
                </c:pt>
                <c:pt idx="28">
                  <c:v>313830550</c:v>
                </c:pt>
                <c:pt idx="29">
                  <c:v>357175</c:v>
                </c:pt>
                <c:pt idx="30">
                  <c:v>28592775</c:v>
                </c:pt>
                <c:pt idx="31">
                  <c:v>233360125</c:v>
                </c:pt>
                <c:pt idx="32">
                  <c:v>215985675</c:v>
                </c:pt>
                <c:pt idx="33">
                  <c:v>446000</c:v>
                </c:pt>
                <c:pt idx="34">
                  <c:v>59499700</c:v>
                </c:pt>
                <c:pt idx="35">
                  <c:v>305625</c:v>
                </c:pt>
                <c:pt idx="36">
                  <c:v>243169175</c:v>
                </c:pt>
                <c:pt idx="37">
                  <c:v>98686900</c:v>
                </c:pt>
                <c:pt idx="38">
                  <c:v>40300</c:v>
                </c:pt>
                <c:pt idx="39">
                  <c:v>6212500</c:v>
                </c:pt>
                <c:pt idx="40">
                  <c:v>86560275</c:v>
                </c:pt>
                <c:pt idx="41">
                  <c:v>5375</c:v>
                </c:pt>
                <c:pt idx="42">
                  <c:v>530700</c:v>
                </c:pt>
                <c:pt idx="43">
                  <c:v>28200</c:v>
                </c:pt>
                <c:pt idx="44">
                  <c:v>376077275</c:v>
                </c:pt>
                <c:pt idx="45">
                  <c:v>8238825</c:v>
                </c:pt>
                <c:pt idx="46">
                  <c:v>40017300</c:v>
                </c:pt>
                <c:pt idx="47">
                  <c:v>35348800</c:v>
                </c:pt>
                <c:pt idx="48">
                  <c:v>640617225</c:v>
                </c:pt>
                <c:pt idx="49">
                  <c:v>417450</c:v>
                </c:pt>
                <c:pt idx="50">
                  <c:v>227825</c:v>
                </c:pt>
                <c:pt idx="51">
                  <c:v>17861200</c:v>
                </c:pt>
                <c:pt idx="52">
                  <c:v>56231975</c:v>
                </c:pt>
                <c:pt idx="53">
                  <c:v>116766525</c:v>
                </c:pt>
                <c:pt idx="54">
                  <c:v>2623000</c:v>
                </c:pt>
                <c:pt idx="55">
                  <c:v>1824025</c:v>
                </c:pt>
                <c:pt idx="56">
                  <c:v>9974150</c:v>
                </c:pt>
                <c:pt idx="57">
                  <c:v>16317925</c:v>
                </c:pt>
                <c:pt idx="58">
                  <c:v>2516425</c:v>
                </c:pt>
                <c:pt idx="59">
                  <c:v>78246300</c:v>
                </c:pt>
                <c:pt idx="60">
                  <c:v>4195750</c:v>
                </c:pt>
                <c:pt idx="61">
                  <c:v>1559700</c:v>
                </c:pt>
                <c:pt idx="62">
                  <c:v>493465675</c:v>
                </c:pt>
                <c:pt idx="63">
                  <c:v>119737150</c:v>
                </c:pt>
                <c:pt idx="64">
                  <c:v>43839725</c:v>
                </c:pt>
                <c:pt idx="65">
                  <c:v>332350</c:v>
                </c:pt>
                <c:pt idx="66">
                  <c:v>93243050</c:v>
                </c:pt>
              </c:numCache>
            </c:numRef>
          </c:val>
          <c:extLst>
            <c:ext xmlns:c16="http://schemas.microsoft.com/office/drawing/2014/chart" uri="{C3380CC4-5D6E-409C-BE32-E72D297353CC}">
              <c16:uniqueId val="{00000001-3894-44A4-A7D2-50C286818116}"/>
            </c:ext>
          </c:extLst>
        </c:ser>
        <c:dLbls>
          <c:showLegendKey val="0"/>
          <c:showVal val="0"/>
          <c:showCatName val="0"/>
          <c:showSerName val="0"/>
          <c:showPercent val="0"/>
          <c:showBubbleSize val="0"/>
        </c:dLbls>
        <c:gapWidth val="219"/>
        <c:overlap val="-27"/>
        <c:axId val="1789082159"/>
        <c:axId val="1789082639"/>
      </c:barChart>
      <c:catAx>
        <c:axId val="178908215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789082639"/>
        <c:crosses val="autoZero"/>
        <c:auto val="1"/>
        <c:lblAlgn val="ctr"/>
        <c:lblOffset val="100"/>
        <c:noMultiLvlLbl val="0"/>
      </c:catAx>
      <c:valAx>
        <c:axId val="1789082639"/>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789082159"/>
        <c:crosses val="autoZero"/>
        <c:crossBetween val="between"/>
        <c:dispUnits>
          <c:builtInUnit val="millions"/>
          <c:dispUnitsLbl>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dispUnitsLbl>
        </c:dispUnits>
      </c:valAx>
      <c:spPr>
        <a:noFill/>
        <a:ln>
          <a:noFill/>
        </a:ln>
        <a:effectLst/>
      </c:spPr>
    </c:plotArea>
    <c:legend>
      <c:legendPos val="r"/>
      <c:layout>
        <c:manualLayout>
          <c:xMode val="edge"/>
          <c:yMode val="edge"/>
          <c:x val="0.24013725398440855"/>
          <c:y val="2.4612211672420645E-2"/>
          <c:w val="0.56551866228817704"/>
          <c:h val="9.8507680844932013E-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4">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[V3_Summary.xlsb]Sales over time!PivotTable10</c:name>
    <c:fmtId val="4"/>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ZA"/>
              <a:t>Sales</a:t>
            </a:r>
            <a:r>
              <a:rPr lang="en-ZA" baseline="0"/>
              <a:t> overtime</a:t>
            </a:r>
            <a:endParaRPr lang="en-ZA"/>
          </a:p>
        </c:rich>
      </c:tx>
      <c:layout>
        <c:manualLayout>
          <c:xMode val="edge"/>
          <c:yMode val="edge"/>
          <c:x val="3.1271272104290079E-2"/>
          <c:y val="8.8322859219013942E-3"/>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ZA"/>
        </a:p>
      </c:txPr>
    </c:title>
    <c:autoTitleDeleted val="0"/>
    <c:pivotFmts>
      <c:pivotFmt>
        <c:idx val="0"/>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lineChart>
        <c:grouping val="standard"/>
        <c:varyColors val="0"/>
        <c:ser>
          <c:idx val="0"/>
          <c:order val="0"/>
          <c:tx>
            <c:strRef>
              <c:f>'Sales over time'!$B$3</c:f>
              <c:strCache>
                <c:ptCount val="1"/>
                <c:pt idx="0">
                  <c:v>Sum of total_revenue</c:v>
                </c:pt>
              </c:strCache>
            </c:strRef>
          </c:tx>
          <c:spPr>
            <a:ln w="28575" cap="rnd">
              <a:solidFill>
                <a:schemeClr val="accent1"/>
              </a:solidFill>
              <a:round/>
            </a:ln>
            <a:effectLst/>
          </c:spPr>
          <c:marker>
            <c:symbol val="none"/>
          </c:marker>
          <c:cat>
            <c:strRef>
              <c:f>'Sales over time'!$A$4:$A$13</c:f>
              <c:strCache>
                <c:ptCount val="9"/>
                <c:pt idx="0">
                  <c:v>January</c:v>
                </c:pt>
                <c:pt idx="1">
                  <c:v>February</c:v>
                </c:pt>
                <c:pt idx="2">
                  <c:v>March</c:v>
                </c:pt>
                <c:pt idx="3">
                  <c:v>April</c:v>
                </c:pt>
                <c:pt idx="4">
                  <c:v>May</c:v>
                </c:pt>
                <c:pt idx="5">
                  <c:v>June</c:v>
                </c:pt>
                <c:pt idx="6">
                  <c:v>July</c:v>
                </c:pt>
                <c:pt idx="7">
                  <c:v>December</c:v>
                </c:pt>
                <c:pt idx="8">
                  <c:v>Unknown</c:v>
                </c:pt>
              </c:strCache>
            </c:strRef>
          </c:cat>
          <c:val>
            <c:numRef>
              <c:f>'Sales over time'!$B$4:$B$13</c:f>
              <c:numCache>
                <c:formatCode>General</c:formatCode>
                <c:ptCount val="9"/>
                <c:pt idx="0">
                  <c:v>1871680792</c:v>
                </c:pt>
                <c:pt idx="1">
                  <c:v>2218862827</c:v>
                </c:pt>
                <c:pt idx="2">
                  <c:v>622105273</c:v>
                </c:pt>
                <c:pt idx="3">
                  <c:v>14799755</c:v>
                </c:pt>
                <c:pt idx="4">
                  <c:v>752178456</c:v>
                </c:pt>
                <c:pt idx="5">
                  <c:v>1499881215</c:v>
                </c:pt>
                <c:pt idx="6">
                  <c:v>22069764</c:v>
                </c:pt>
                <c:pt idx="7">
                  <c:v>604434205</c:v>
                </c:pt>
                <c:pt idx="8">
                  <c:v>0</c:v>
                </c:pt>
              </c:numCache>
            </c:numRef>
          </c:val>
          <c:smooth val="0"/>
          <c:extLst>
            <c:ext xmlns:c16="http://schemas.microsoft.com/office/drawing/2014/chart" uri="{C3380CC4-5D6E-409C-BE32-E72D297353CC}">
              <c16:uniqueId val="{00000000-26BD-4063-8DF3-BC2D3483C9FF}"/>
            </c:ext>
          </c:extLst>
        </c:ser>
        <c:ser>
          <c:idx val="1"/>
          <c:order val="1"/>
          <c:tx>
            <c:strRef>
              <c:f>'Sales over time'!$C$3</c:f>
              <c:strCache>
                <c:ptCount val="1"/>
                <c:pt idx="0">
                  <c:v>Sum of total_gross_profit</c:v>
                </c:pt>
              </c:strCache>
            </c:strRef>
          </c:tx>
          <c:spPr>
            <a:ln w="28575" cap="rnd">
              <a:solidFill>
                <a:schemeClr val="accent2"/>
              </a:solidFill>
              <a:round/>
            </a:ln>
            <a:effectLst/>
          </c:spPr>
          <c:marker>
            <c:symbol val="none"/>
          </c:marker>
          <c:cat>
            <c:strRef>
              <c:f>'Sales over time'!$A$4:$A$13</c:f>
              <c:strCache>
                <c:ptCount val="9"/>
                <c:pt idx="0">
                  <c:v>January</c:v>
                </c:pt>
                <c:pt idx="1">
                  <c:v>February</c:v>
                </c:pt>
                <c:pt idx="2">
                  <c:v>March</c:v>
                </c:pt>
                <c:pt idx="3">
                  <c:v>April</c:v>
                </c:pt>
                <c:pt idx="4">
                  <c:v>May</c:v>
                </c:pt>
                <c:pt idx="5">
                  <c:v>June</c:v>
                </c:pt>
                <c:pt idx="6">
                  <c:v>July</c:v>
                </c:pt>
                <c:pt idx="7">
                  <c:v>December</c:v>
                </c:pt>
                <c:pt idx="8">
                  <c:v>Unknown</c:v>
                </c:pt>
              </c:strCache>
            </c:strRef>
          </c:cat>
          <c:val>
            <c:numRef>
              <c:f>'Sales over time'!$C$4:$C$13</c:f>
              <c:numCache>
                <c:formatCode>General</c:formatCode>
                <c:ptCount val="9"/>
                <c:pt idx="0">
                  <c:v>-25562758</c:v>
                </c:pt>
                <c:pt idx="1">
                  <c:v>-10774073</c:v>
                </c:pt>
                <c:pt idx="2">
                  <c:v>-1620402</c:v>
                </c:pt>
                <c:pt idx="3">
                  <c:v>-2082070</c:v>
                </c:pt>
                <c:pt idx="4">
                  <c:v>-17899769</c:v>
                </c:pt>
                <c:pt idx="5">
                  <c:v>-14824585</c:v>
                </c:pt>
                <c:pt idx="6">
                  <c:v>-197436</c:v>
                </c:pt>
                <c:pt idx="7">
                  <c:v>-15340995</c:v>
                </c:pt>
                <c:pt idx="8">
                  <c:v>0</c:v>
                </c:pt>
              </c:numCache>
            </c:numRef>
          </c:val>
          <c:smooth val="0"/>
          <c:extLst>
            <c:ext xmlns:c16="http://schemas.microsoft.com/office/drawing/2014/chart" uri="{C3380CC4-5D6E-409C-BE32-E72D297353CC}">
              <c16:uniqueId val="{00000001-26BD-4063-8DF3-BC2D3483C9FF}"/>
            </c:ext>
          </c:extLst>
        </c:ser>
        <c:dLbls>
          <c:showLegendKey val="0"/>
          <c:showVal val="0"/>
          <c:showCatName val="0"/>
          <c:showSerName val="0"/>
          <c:showPercent val="0"/>
          <c:showBubbleSize val="0"/>
        </c:dLbls>
        <c:smooth val="0"/>
        <c:axId val="1439597823"/>
        <c:axId val="1439591583"/>
      </c:lineChart>
      <c:catAx>
        <c:axId val="143959782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439591583"/>
        <c:crosses val="autoZero"/>
        <c:auto val="1"/>
        <c:lblAlgn val="ctr"/>
        <c:lblOffset val="100"/>
        <c:noMultiLvlLbl val="0"/>
      </c:catAx>
      <c:valAx>
        <c:axId val="1439591583"/>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439597823"/>
        <c:crosses val="autoZero"/>
        <c:crossBetween val="between"/>
        <c:dispUnits>
          <c:builtInUnit val="millions"/>
          <c:dispUnitsLbl>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dispUnitsLbl>
        </c:dispUnits>
      </c:valAx>
      <c:spPr>
        <a:noFill/>
        <a:ln>
          <a:noFill/>
        </a:ln>
        <a:effectLst/>
      </c:spPr>
    </c:plotArea>
    <c:legend>
      <c:legendPos val="r"/>
      <c:layout>
        <c:manualLayout>
          <c:xMode val="edge"/>
          <c:yMode val="edge"/>
          <c:x val="0.36349410738532212"/>
          <c:y val="3.1723020800671908E-3"/>
          <c:w val="0.57577094533381923"/>
          <c:h val="0.1008286439992446"/>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[V3_Summary.xlsb]Profitability by State!PivotTable33</c:name>
    <c:fmtId val="14"/>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Profitability</a:t>
            </a:r>
            <a:r>
              <a:rPr lang="en-US" baseline="0"/>
              <a:t> by State</a:t>
            </a: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5.1071531728390414E-2"/>
          <c:y val="8.9703229080623462E-2"/>
          <c:w val="0.90514856396538945"/>
          <c:h val="0.84442989123206269"/>
        </c:manualLayout>
      </c:layout>
      <c:barChart>
        <c:barDir val="col"/>
        <c:grouping val="clustered"/>
        <c:varyColors val="0"/>
        <c:ser>
          <c:idx val="0"/>
          <c:order val="0"/>
          <c:tx>
            <c:strRef>
              <c:f>'Profitability by State'!$B$3</c:f>
              <c:strCache>
                <c:ptCount val="1"/>
                <c:pt idx="0">
                  <c:v>Total</c:v>
                </c:pt>
              </c:strCache>
            </c:strRef>
          </c:tx>
          <c:spPr>
            <a:solidFill>
              <a:schemeClr val="accent1"/>
            </a:solidFill>
            <a:ln>
              <a:noFill/>
            </a:ln>
            <a:effectLst/>
          </c:spPr>
          <c:invertIfNegative val="0"/>
          <c:cat>
            <c:strRef>
              <c:f>'Profitability by State'!$A$4:$A$42</c:f>
              <c:strCache>
                <c:ptCount val="38"/>
                <c:pt idx="0">
                  <c:v>AB</c:v>
                </c:pt>
                <c:pt idx="1">
                  <c:v>Alabama</c:v>
                </c:pt>
                <c:pt idx="2">
                  <c:v>Arizona</c:v>
                </c:pt>
                <c:pt idx="3">
                  <c:v>California</c:v>
                </c:pt>
                <c:pt idx="4">
                  <c:v>Colorado</c:v>
                </c:pt>
                <c:pt idx="5">
                  <c:v>Florida</c:v>
                </c:pt>
                <c:pt idx="6">
                  <c:v>Georgia</c:v>
                </c:pt>
                <c:pt idx="7">
                  <c:v>HI</c:v>
                </c:pt>
                <c:pt idx="8">
                  <c:v>Illinois</c:v>
                </c:pt>
                <c:pt idx="9">
                  <c:v>Indiana</c:v>
                </c:pt>
                <c:pt idx="10">
                  <c:v>LA</c:v>
                </c:pt>
                <c:pt idx="11">
                  <c:v>Maryland</c:v>
                </c:pt>
                <c:pt idx="12">
                  <c:v>Massachusetts</c:v>
                </c:pt>
                <c:pt idx="13">
                  <c:v>Michigan</c:v>
                </c:pt>
                <c:pt idx="14">
                  <c:v>Minnesota</c:v>
                </c:pt>
                <c:pt idx="15">
                  <c:v>Missouri</c:v>
                </c:pt>
                <c:pt idx="16">
                  <c:v>MS</c:v>
                </c:pt>
                <c:pt idx="17">
                  <c:v>NE</c:v>
                </c:pt>
                <c:pt idx="18">
                  <c:v>Nevada</c:v>
                </c:pt>
                <c:pt idx="19">
                  <c:v>New Jersey</c:v>
                </c:pt>
                <c:pt idx="20">
                  <c:v>New York</c:v>
                </c:pt>
                <c:pt idx="21">
                  <c:v>NM</c:v>
                </c:pt>
                <c:pt idx="22">
                  <c:v>North Carolina</c:v>
                </c:pt>
                <c:pt idx="23">
                  <c:v>NS</c:v>
                </c:pt>
                <c:pt idx="24">
                  <c:v>Ohio</c:v>
                </c:pt>
                <c:pt idx="25">
                  <c:v>OK</c:v>
                </c:pt>
                <c:pt idx="26">
                  <c:v>ON</c:v>
                </c:pt>
                <c:pt idx="27">
                  <c:v>Oregon</c:v>
                </c:pt>
                <c:pt idx="28">
                  <c:v>Pennsylvania</c:v>
                </c:pt>
                <c:pt idx="29">
                  <c:v>PR</c:v>
                </c:pt>
                <c:pt idx="30">
                  <c:v>QC</c:v>
                </c:pt>
                <c:pt idx="31">
                  <c:v>South Carolina</c:v>
                </c:pt>
                <c:pt idx="32">
                  <c:v>Tennessee</c:v>
                </c:pt>
                <c:pt idx="33">
                  <c:v>Texas</c:v>
                </c:pt>
                <c:pt idx="34">
                  <c:v>Utah</c:v>
                </c:pt>
                <c:pt idx="35">
                  <c:v>Virginia</c:v>
                </c:pt>
                <c:pt idx="36">
                  <c:v>Washington</c:v>
                </c:pt>
                <c:pt idx="37">
                  <c:v>Wisconsin</c:v>
                </c:pt>
              </c:strCache>
            </c:strRef>
          </c:cat>
          <c:val>
            <c:numRef>
              <c:f>'Profitability by State'!$B$4:$B$42</c:f>
              <c:numCache>
                <c:formatCode>General</c:formatCode>
                <c:ptCount val="38"/>
                <c:pt idx="0">
                  <c:v>-728875</c:v>
                </c:pt>
                <c:pt idx="1">
                  <c:v>-19300</c:v>
                </c:pt>
                <c:pt idx="2">
                  <c:v>-1972080</c:v>
                </c:pt>
                <c:pt idx="3">
                  <c:v>1121277</c:v>
                </c:pt>
                <c:pt idx="4">
                  <c:v>345585</c:v>
                </c:pt>
                <c:pt idx="5">
                  <c:v>-11582969</c:v>
                </c:pt>
                <c:pt idx="6">
                  <c:v>-1180261</c:v>
                </c:pt>
                <c:pt idx="7">
                  <c:v>-1137225</c:v>
                </c:pt>
                <c:pt idx="8">
                  <c:v>-3935724</c:v>
                </c:pt>
                <c:pt idx="9">
                  <c:v>-2148650</c:v>
                </c:pt>
                <c:pt idx="10">
                  <c:v>-952612</c:v>
                </c:pt>
                <c:pt idx="11">
                  <c:v>-6765000</c:v>
                </c:pt>
                <c:pt idx="12">
                  <c:v>-4368700</c:v>
                </c:pt>
                <c:pt idx="13">
                  <c:v>-5507373</c:v>
                </c:pt>
                <c:pt idx="14">
                  <c:v>-508064</c:v>
                </c:pt>
                <c:pt idx="15">
                  <c:v>-244287</c:v>
                </c:pt>
                <c:pt idx="16">
                  <c:v>-923365</c:v>
                </c:pt>
                <c:pt idx="17">
                  <c:v>-96225</c:v>
                </c:pt>
                <c:pt idx="18">
                  <c:v>623638</c:v>
                </c:pt>
                <c:pt idx="19">
                  <c:v>-14425775</c:v>
                </c:pt>
                <c:pt idx="20">
                  <c:v>-5543240</c:v>
                </c:pt>
                <c:pt idx="21">
                  <c:v>-205850</c:v>
                </c:pt>
                <c:pt idx="22">
                  <c:v>2296468</c:v>
                </c:pt>
                <c:pt idx="23">
                  <c:v>-35275</c:v>
                </c:pt>
                <c:pt idx="24">
                  <c:v>-3378715</c:v>
                </c:pt>
                <c:pt idx="25">
                  <c:v>-60650</c:v>
                </c:pt>
                <c:pt idx="26">
                  <c:v>421300</c:v>
                </c:pt>
                <c:pt idx="27">
                  <c:v>-222400</c:v>
                </c:pt>
                <c:pt idx="28">
                  <c:v>-9446652</c:v>
                </c:pt>
                <c:pt idx="29">
                  <c:v>-1095100</c:v>
                </c:pt>
                <c:pt idx="30">
                  <c:v>-332975</c:v>
                </c:pt>
                <c:pt idx="31">
                  <c:v>-1035167</c:v>
                </c:pt>
                <c:pt idx="32">
                  <c:v>2189308</c:v>
                </c:pt>
                <c:pt idx="33">
                  <c:v>-10295964</c:v>
                </c:pt>
                <c:pt idx="34">
                  <c:v>-1886836</c:v>
                </c:pt>
                <c:pt idx="35">
                  <c:v>-3674180</c:v>
                </c:pt>
                <c:pt idx="36">
                  <c:v>2157359</c:v>
                </c:pt>
                <c:pt idx="37">
                  <c:v>-3747534</c:v>
                </c:pt>
              </c:numCache>
            </c:numRef>
          </c:val>
          <c:extLst>
            <c:ext xmlns:c16="http://schemas.microsoft.com/office/drawing/2014/chart" uri="{C3380CC4-5D6E-409C-BE32-E72D297353CC}">
              <c16:uniqueId val="{00000000-6AE5-40D5-AA75-B749594CB9AD}"/>
            </c:ext>
          </c:extLst>
        </c:ser>
        <c:dLbls>
          <c:showLegendKey val="0"/>
          <c:showVal val="0"/>
          <c:showCatName val="0"/>
          <c:showSerName val="0"/>
          <c:showPercent val="0"/>
          <c:showBubbleSize val="0"/>
        </c:dLbls>
        <c:gapWidth val="150"/>
        <c:axId val="1484262079"/>
        <c:axId val="1484256319"/>
      </c:barChart>
      <c:catAx>
        <c:axId val="148426207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484256319"/>
        <c:crosses val="autoZero"/>
        <c:auto val="1"/>
        <c:lblAlgn val="ctr"/>
        <c:lblOffset val="100"/>
        <c:noMultiLvlLbl val="0"/>
      </c:catAx>
      <c:valAx>
        <c:axId val="1484256319"/>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484262079"/>
        <c:crosses val="autoZero"/>
        <c:crossBetween val="between"/>
        <c:dispUnits>
          <c:builtInUnit val="millions"/>
          <c:dispUnitsLbl>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dispUnitsLbl>
        </c:dispUnits>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pivotSource>
    <c:name>[V3_Summary.xlsb]Sales by state !PivotTable32</c:name>
    <c:fmtId val="7"/>
  </c:pivotSource>
  <c:chart>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0.11703166402193996"/>
          <c:y val="4.5566851210941145E-2"/>
          <c:w val="0.81586810803115639"/>
          <c:h val="0.87619340848143434"/>
        </c:manualLayout>
      </c:layout>
      <c:barChart>
        <c:barDir val="bar"/>
        <c:grouping val="clustered"/>
        <c:varyColors val="0"/>
        <c:ser>
          <c:idx val="0"/>
          <c:order val="0"/>
          <c:tx>
            <c:strRef>
              <c:f>'Sales by state '!$B$3</c:f>
              <c:strCache>
                <c:ptCount val="1"/>
                <c:pt idx="0">
                  <c:v>Sum of total_inventory_sold</c:v>
                </c:pt>
              </c:strCache>
            </c:strRef>
          </c:tx>
          <c:spPr>
            <a:solidFill>
              <a:schemeClr val="accent1"/>
            </a:solidFill>
            <a:ln>
              <a:noFill/>
            </a:ln>
            <a:effectLst/>
          </c:spPr>
          <c:invertIfNegative val="0"/>
          <c:cat>
            <c:strRef>
              <c:f>'Sales by state '!$A$4:$A$42</c:f>
              <c:strCache>
                <c:ptCount val="38"/>
                <c:pt idx="0">
                  <c:v>AB</c:v>
                </c:pt>
                <c:pt idx="1">
                  <c:v>Alabama</c:v>
                </c:pt>
                <c:pt idx="2">
                  <c:v>Arizona</c:v>
                </c:pt>
                <c:pt idx="3">
                  <c:v>California</c:v>
                </c:pt>
                <c:pt idx="4">
                  <c:v>Colorado</c:v>
                </c:pt>
                <c:pt idx="5">
                  <c:v>Florida</c:v>
                </c:pt>
                <c:pt idx="6">
                  <c:v>Georgia</c:v>
                </c:pt>
                <c:pt idx="7">
                  <c:v>HI</c:v>
                </c:pt>
                <c:pt idx="8">
                  <c:v>Illinois</c:v>
                </c:pt>
                <c:pt idx="9">
                  <c:v>Indiana</c:v>
                </c:pt>
                <c:pt idx="10">
                  <c:v>LA</c:v>
                </c:pt>
                <c:pt idx="11">
                  <c:v>Maryland</c:v>
                </c:pt>
                <c:pt idx="12">
                  <c:v>Massachusetts</c:v>
                </c:pt>
                <c:pt idx="13">
                  <c:v>Michigan</c:v>
                </c:pt>
                <c:pt idx="14">
                  <c:v>Minnesota</c:v>
                </c:pt>
                <c:pt idx="15">
                  <c:v>Missouri</c:v>
                </c:pt>
                <c:pt idx="16">
                  <c:v>MS</c:v>
                </c:pt>
                <c:pt idx="17">
                  <c:v>NE</c:v>
                </c:pt>
                <c:pt idx="18">
                  <c:v>Nevada</c:v>
                </c:pt>
                <c:pt idx="19">
                  <c:v>New Jersey</c:v>
                </c:pt>
                <c:pt idx="20">
                  <c:v>New York</c:v>
                </c:pt>
                <c:pt idx="21">
                  <c:v>NM</c:v>
                </c:pt>
                <c:pt idx="22">
                  <c:v>North Carolina</c:v>
                </c:pt>
                <c:pt idx="23">
                  <c:v>NS</c:v>
                </c:pt>
                <c:pt idx="24">
                  <c:v>Ohio</c:v>
                </c:pt>
                <c:pt idx="25">
                  <c:v>OK</c:v>
                </c:pt>
                <c:pt idx="26">
                  <c:v>ON</c:v>
                </c:pt>
                <c:pt idx="27">
                  <c:v>Oregon</c:v>
                </c:pt>
                <c:pt idx="28">
                  <c:v>Pennsylvania</c:v>
                </c:pt>
                <c:pt idx="29">
                  <c:v>PR</c:v>
                </c:pt>
                <c:pt idx="30">
                  <c:v>QC</c:v>
                </c:pt>
                <c:pt idx="31">
                  <c:v>South Carolina</c:v>
                </c:pt>
                <c:pt idx="32">
                  <c:v>Tennessee</c:v>
                </c:pt>
                <c:pt idx="33">
                  <c:v>Texas</c:v>
                </c:pt>
                <c:pt idx="34">
                  <c:v>Utah</c:v>
                </c:pt>
                <c:pt idx="35">
                  <c:v>Virginia</c:v>
                </c:pt>
                <c:pt idx="36">
                  <c:v>Washington</c:v>
                </c:pt>
                <c:pt idx="37">
                  <c:v>Wisconsin</c:v>
                </c:pt>
              </c:strCache>
            </c:strRef>
          </c:cat>
          <c:val>
            <c:numRef>
              <c:f>'Sales by state '!$B$4:$B$42</c:f>
              <c:numCache>
                <c:formatCode>General</c:formatCode>
                <c:ptCount val="38"/>
                <c:pt idx="0">
                  <c:v>928</c:v>
                </c:pt>
                <c:pt idx="1">
                  <c:v>26</c:v>
                </c:pt>
                <c:pt idx="2">
                  <c:v>8741</c:v>
                </c:pt>
                <c:pt idx="3">
                  <c:v>73148</c:v>
                </c:pt>
                <c:pt idx="4">
                  <c:v>7775</c:v>
                </c:pt>
                <c:pt idx="5">
                  <c:v>82945</c:v>
                </c:pt>
                <c:pt idx="6">
                  <c:v>34750</c:v>
                </c:pt>
                <c:pt idx="7">
                  <c:v>1237</c:v>
                </c:pt>
                <c:pt idx="8">
                  <c:v>23486</c:v>
                </c:pt>
                <c:pt idx="9">
                  <c:v>4325</c:v>
                </c:pt>
                <c:pt idx="10">
                  <c:v>2191</c:v>
                </c:pt>
                <c:pt idx="11">
                  <c:v>11158</c:v>
                </c:pt>
                <c:pt idx="12">
                  <c:v>6729</c:v>
                </c:pt>
                <c:pt idx="13">
                  <c:v>15511</c:v>
                </c:pt>
                <c:pt idx="14">
                  <c:v>9429</c:v>
                </c:pt>
                <c:pt idx="15">
                  <c:v>16013</c:v>
                </c:pt>
                <c:pt idx="16">
                  <c:v>1851</c:v>
                </c:pt>
                <c:pt idx="17">
                  <c:v>4013</c:v>
                </c:pt>
                <c:pt idx="18">
                  <c:v>12685</c:v>
                </c:pt>
                <c:pt idx="19">
                  <c:v>27784</c:v>
                </c:pt>
                <c:pt idx="20">
                  <c:v>5699</c:v>
                </c:pt>
                <c:pt idx="21">
                  <c:v>171</c:v>
                </c:pt>
                <c:pt idx="22">
                  <c:v>21845</c:v>
                </c:pt>
                <c:pt idx="23">
                  <c:v>61</c:v>
                </c:pt>
                <c:pt idx="24">
                  <c:v>21575</c:v>
                </c:pt>
                <c:pt idx="25">
                  <c:v>72</c:v>
                </c:pt>
                <c:pt idx="26">
                  <c:v>3442</c:v>
                </c:pt>
                <c:pt idx="27">
                  <c:v>1155</c:v>
                </c:pt>
                <c:pt idx="28">
                  <c:v>53907</c:v>
                </c:pt>
                <c:pt idx="29">
                  <c:v>2725</c:v>
                </c:pt>
                <c:pt idx="30">
                  <c:v>1245</c:v>
                </c:pt>
                <c:pt idx="31">
                  <c:v>4251</c:v>
                </c:pt>
                <c:pt idx="32">
                  <c:v>20895</c:v>
                </c:pt>
                <c:pt idx="33">
                  <c:v>45913</c:v>
                </c:pt>
                <c:pt idx="34">
                  <c:v>1836</c:v>
                </c:pt>
                <c:pt idx="35">
                  <c:v>12027</c:v>
                </c:pt>
                <c:pt idx="36">
                  <c:v>7416</c:v>
                </c:pt>
                <c:pt idx="37">
                  <c:v>9851</c:v>
                </c:pt>
              </c:numCache>
            </c:numRef>
          </c:val>
          <c:extLst>
            <c:ext xmlns:c16="http://schemas.microsoft.com/office/drawing/2014/chart" uri="{C3380CC4-5D6E-409C-BE32-E72D297353CC}">
              <c16:uniqueId val="{00000000-7902-4E35-AFA1-1744D2D5BEAB}"/>
            </c:ext>
          </c:extLst>
        </c:ser>
        <c:ser>
          <c:idx val="1"/>
          <c:order val="1"/>
          <c:tx>
            <c:strRef>
              <c:f>'Sales by state '!$C$3</c:f>
              <c:strCache>
                <c:ptCount val="1"/>
                <c:pt idx="0">
                  <c:v>Sum of total_revenue</c:v>
                </c:pt>
              </c:strCache>
            </c:strRef>
          </c:tx>
          <c:spPr>
            <a:solidFill>
              <a:schemeClr val="accent2"/>
            </a:solidFill>
            <a:ln>
              <a:noFill/>
            </a:ln>
            <a:effectLst/>
          </c:spPr>
          <c:invertIfNegative val="0"/>
          <c:cat>
            <c:strRef>
              <c:f>'Sales by state '!$A$4:$A$42</c:f>
              <c:strCache>
                <c:ptCount val="38"/>
                <c:pt idx="0">
                  <c:v>AB</c:v>
                </c:pt>
                <c:pt idx="1">
                  <c:v>Alabama</c:v>
                </c:pt>
                <c:pt idx="2">
                  <c:v>Arizona</c:v>
                </c:pt>
                <c:pt idx="3">
                  <c:v>California</c:v>
                </c:pt>
                <c:pt idx="4">
                  <c:v>Colorado</c:v>
                </c:pt>
                <c:pt idx="5">
                  <c:v>Florida</c:v>
                </c:pt>
                <c:pt idx="6">
                  <c:v>Georgia</c:v>
                </c:pt>
                <c:pt idx="7">
                  <c:v>HI</c:v>
                </c:pt>
                <c:pt idx="8">
                  <c:v>Illinois</c:v>
                </c:pt>
                <c:pt idx="9">
                  <c:v>Indiana</c:v>
                </c:pt>
                <c:pt idx="10">
                  <c:v>LA</c:v>
                </c:pt>
                <c:pt idx="11">
                  <c:v>Maryland</c:v>
                </c:pt>
                <c:pt idx="12">
                  <c:v>Massachusetts</c:v>
                </c:pt>
                <c:pt idx="13">
                  <c:v>Michigan</c:v>
                </c:pt>
                <c:pt idx="14">
                  <c:v>Minnesota</c:v>
                </c:pt>
                <c:pt idx="15">
                  <c:v>Missouri</c:v>
                </c:pt>
                <c:pt idx="16">
                  <c:v>MS</c:v>
                </c:pt>
                <c:pt idx="17">
                  <c:v>NE</c:v>
                </c:pt>
                <c:pt idx="18">
                  <c:v>Nevada</c:v>
                </c:pt>
                <c:pt idx="19">
                  <c:v>New Jersey</c:v>
                </c:pt>
                <c:pt idx="20">
                  <c:v>New York</c:v>
                </c:pt>
                <c:pt idx="21">
                  <c:v>NM</c:v>
                </c:pt>
                <c:pt idx="22">
                  <c:v>North Carolina</c:v>
                </c:pt>
                <c:pt idx="23">
                  <c:v>NS</c:v>
                </c:pt>
                <c:pt idx="24">
                  <c:v>Ohio</c:v>
                </c:pt>
                <c:pt idx="25">
                  <c:v>OK</c:v>
                </c:pt>
                <c:pt idx="26">
                  <c:v>ON</c:v>
                </c:pt>
                <c:pt idx="27">
                  <c:v>Oregon</c:v>
                </c:pt>
                <c:pt idx="28">
                  <c:v>Pennsylvania</c:v>
                </c:pt>
                <c:pt idx="29">
                  <c:v>PR</c:v>
                </c:pt>
                <c:pt idx="30">
                  <c:v>QC</c:v>
                </c:pt>
                <c:pt idx="31">
                  <c:v>South Carolina</c:v>
                </c:pt>
                <c:pt idx="32">
                  <c:v>Tennessee</c:v>
                </c:pt>
                <c:pt idx="33">
                  <c:v>Texas</c:v>
                </c:pt>
                <c:pt idx="34">
                  <c:v>Utah</c:v>
                </c:pt>
                <c:pt idx="35">
                  <c:v>Virginia</c:v>
                </c:pt>
                <c:pt idx="36">
                  <c:v>Washington</c:v>
                </c:pt>
                <c:pt idx="37">
                  <c:v>Wisconsin</c:v>
                </c:pt>
              </c:strCache>
            </c:strRef>
          </c:cat>
          <c:val>
            <c:numRef>
              <c:f>'Sales by state '!$C$4:$C$42</c:f>
              <c:numCache>
                <c:formatCode>General</c:formatCode>
                <c:ptCount val="38"/>
                <c:pt idx="0">
                  <c:v>10367650</c:v>
                </c:pt>
                <c:pt idx="1">
                  <c:v>237700</c:v>
                </c:pt>
                <c:pt idx="2">
                  <c:v>100910470</c:v>
                </c:pt>
                <c:pt idx="3">
                  <c:v>1061077777</c:v>
                </c:pt>
                <c:pt idx="4">
                  <c:v>123449885</c:v>
                </c:pt>
                <c:pt idx="5">
                  <c:v>1151064556</c:v>
                </c:pt>
                <c:pt idx="6">
                  <c:v>448927414</c:v>
                </c:pt>
                <c:pt idx="7">
                  <c:v>15080050</c:v>
                </c:pt>
                <c:pt idx="8">
                  <c:v>347290026</c:v>
                </c:pt>
                <c:pt idx="9">
                  <c:v>46344850</c:v>
                </c:pt>
                <c:pt idx="10">
                  <c:v>23052863</c:v>
                </c:pt>
                <c:pt idx="11">
                  <c:v>82670625</c:v>
                </c:pt>
                <c:pt idx="12">
                  <c:v>45264250</c:v>
                </c:pt>
                <c:pt idx="13">
                  <c:v>230900127</c:v>
                </c:pt>
                <c:pt idx="14">
                  <c:v>129254486</c:v>
                </c:pt>
                <c:pt idx="15">
                  <c:v>231647138</c:v>
                </c:pt>
                <c:pt idx="16">
                  <c:v>20812885</c:v>
                </c:pt>
                <c:pt idx="17">
                  <c:v>50455275</c:v>
                </c:pt>
                <c:pt idx="18">
                  <c:v>191515238</c:v>
                </c:pt>
                <c:pt idx="19">
                  <c:v>378115350</c:v>
                </c:pt>
                <c:pt idx="20">
                  <c:v>64823485</c:v>
                </c:pt>
                <c:pt idx="21">
                  <c:v>1075900</c:v>
                </c:pt>
                <c:pt idx="22">
                  <c:v>189198593</c:v>
                </c:pt>
                <c:pt idx="23">
                  <c:v>623000</c:v>
                </c:pt>
                <c:pt idx="24">
                  <c:v>310822810</c:v>
                </c:pt>
                <c:pt idx="25">
                  <c:v>498100</c:v>
                </c:pt>
                <c:pt idx="26">
                  <c:v>61311050</c:v>
                </c:pt>
                <c:pt idx="27">
                  <c:v>13350050</c:v>
                </c:pt>
                <c:pt idx="28">
                  <c:v>861234573</c:v>
                </c:pt>
                <c:pt idx="29">
                  <c:v>25644350</c:v>
                </c:pt>
                <c:pt idx="30">
                  <c:v>16549750</c:v>
                </c:pt>
                <c:pt idx="31">
                  <c:v>43896558</c:v>
                </c:pt>
                <c:pt idx="32">
                  <c:v>355418608</c:v>
                </c:pt>
                <c:pt idx="33">
                  <c:v>606495361</c:v>
                </c:pt>
                <c:pt idx="34">
                  <c:v>22152489</c:v>
                </c:pt>
                <c:pt idx="35">
                  <c:v>103111220</c:v>
                </c:pt>
                <c:pt idx="36">
                  <c:v>103419009</c:v>
                </c:pt>
                <c:pt idx="37">
                  <c:v>137948766</c:v>
                </c:pt>
              </c:numCache>
            </c:numRef>
          </c:val>
          <c:extLst>
            <c:ext xmlns:c16="http://schemas.microsoft.com/office/drawing/2014/chart" uri="{C3380CC4-5D6E-409C-BE32-E72D297353CC}">
              <c16:uniqueId val="{00000001-7902-4E35-AFA1-1744D2D5BEAB}"/>
            </c:ext>
          </c:extLst>
        </c:ser>
        <c:dLbls>
          <c:showLegendKey val="0"/>
          <c:showVal val="0"/>
          <c:showCatName val="0"/>
          <c:showSerName val="0"/>
          <c:showPercent val="0"/>
          <c:showBubbleSize val="0"/>
        </c:dLbls>
        <c:gapWidth val="182"/>
        <c:axId val="1367436511"/>
        <c:axId val="650534064"/>
      </c:barChart>
      <c:catAx>
        <c:axId val="1367436511"/>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50534064"/>
        <c:crosses val="autoZero"/>
        <c:auto val="1"/>
        <c:lblAlgn val="ctr"/>
        <c:lblOffset val="100"/>
        <c:noMultiLvlLbl val="0"/>
      </c:catAx>
      <c:valAx>
        <c:axId val="650534064"/>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67436511"/>
        <c:crosses val="autoZero"/>
        <c:crossBetween val="between"/>
        <c:dispUnits>
          <c:builtInUnit val="billions"/>
          <c:dispUnitsLbl>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dispUnitsLbl>
        </c:dispUnits>
      </c:valAx>
      <c:spPr>
        <a:noFill/>
        <a:ln>
          <a:noFill/>
        </a:ln>
        <a:effectLst/>
      </c:spPr>
    </c:plotArea>
    <c:legend>
      <c:legendPos val="r"/>
      <c:layout>
        <c:manualLayout>
          <c:xMode val="edge"/>
          <c:yMode val="edge"/>
          <c:x val="0.63120370823212313"/>
          <c:y val="4.9341361294356671E-2"/>
          <c:w val="0.3549447507775681"/>
          <c:h val="9.6156859702881972E-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4">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[V3_Summary.xlsb]Sales by transmission and fuel !PivotTable34</c:name>
    <c:fmtId val="4"/>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ZA"/>
              <a:t>Sales</a:t>
            </a:r>
            <a:r>
              <a:rPr lang="en-ZA" baseline="0"/>
              <a:t> by transmission and fuel</a:t>
            </a:r>
            <a:endParaRPr lang="en-ZA"/>
          </a:p>
        </c:rich>
      </c:tx>
      <c:layout>
        <c:manualLayout>
          <c:xMode val="edge"/>
          <c:yMode val="edge"/>
          <c:x val="4.1573756072084703E-2"/>
          <c:y val="1.4147772706116895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ZA"/>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6.8657144082794996E-2"/>
          <c:y val="0.14475421017508047"/>
          <c:w val="0.65180183698019845"/>
          <c:h val="0.80452035654000154"/>
        </c:manualLayout>
      </c:layout>
      <c:barChart>
        <c:barDir val="col"/>
        <c:grouping val="clustered"/>
        <c:varyColors val="0"/>
        <c:ser>
          <c:idx val="0"/>
          <c:order val="0"/>
          <c:tx>
            <c:strRef>
              <c:f>'Sales by transmission and fuel '!$B$3</c:f>
              <c:strCache>
                <c:ptCount val="1"/>
                <c:pt idx="0">
                  <c:v>Sum of total_inventory_sold</c:v>
                </c:pt>
              </c:strCache>
            </c:strRef>
          </c:tx>
          <c:spPr>
            <a:solidFill>
              <a:schemeClr val="accent1"/>
            </a:solidFill>
            <a:ln>
              <a:noFill/>
            </a:ln>
            <a:effectLst/>
          </c:spPr>
          <c:invertIfNegative val="0"/>
          <c:cat>
            <c:multiLvlStrRef>
              <c:f>'Sales by transmission and fuel '!$A$4:$A$16</c:f>
              <c:multiLvlStrCache>
                <c:ptCount val="9"/>
                <c:lvl>
                  <c:pt idx="0">
                    <c:v>diesel</c:v>
                  </c:pt>
                  <c:pt idx="1">
                    <c:v>electric</c:v>
                  </c:pt>
                  <c:pt idx="2">
                    <c:v>gasoline</c:v>
                  </c:pt>
                  <c:pt idx="3">
                    <c:v>diesel</c:v>
                  </c:pt>
                  <c:pt idx="4">
                    <c:v>electric</c:v>
                  </c:pt>
                  <c:pt idx="5">
                    <c:v>gasoline</c:v>
                  </c:pt>
                  <c:pt idx="6">
                    <c:v>diesel</c:v>
                  </c:pt>
                  <c:pt idx="7">
                    <c:v>electric</c:v>
                  </c:pt>
                  <c:pt idx="8">
                    <c:v>gasoline</c:v>
                  </c:pt>
                </c:lvl>
                <c:lvl>
                  <c:pt idx="0">
                    <c:v>automatic</c:v>
                  </c:pt>
                  <c:pt idx="3">
                    <c:v>manual</c:v>
                  </c:pt>
                  <c:pt idx="6">
                    <c:v>not specified</c:v>
                  </c:pt>
                </c:lvl>
              </c:multiLvlStrCache>
            </c:multiLvlStrRef>
          </c:cat>
          <c:val>
            <c:numRef>
              <c:f>'Sales by transmission and fuel '!$B$4:$B$16</c:f>
              <c:numCache>
                <c:formatCode>General</c:formatCode>
                <c:ptCount val="9"/>
                <c:pt idx="0">
                  <c:v>26538</c:v>
                </c:pt>
                <c:pt idx="1">
                  <c:v>9868</c:v>
                </c:pt>
                <c:pt idx="2">
                  <c:v>439509</c:v>
                </c:pt>
                <c:pt idx="3">
                  <c:v>1303</c:v>
                </c:pt>
                <c:pt idx="4">
                  <c:v>769</c:v>
                </c:pt>
                <c:pt idx="5">
                  <c:v>15472</c:v>
                </c:pt>
                <c:pt idx="6">
                  <c:v>3044</c:v>
                </c:pt>
                <c:pt idx="7">
                  <c:v>1570</c:v>
                </c:pt>
                <c:pt idx="8">
                  <c:v>60738</c:v>
                </c:pt>
              </c:numCache>
            </c:numRef>
          </c:val>
          <c:extLst>
            <c:ext xmlns:c16="http://schemas.microsoft.com/office/drawing/2014/chart" uri="{C3380CC4-5D6E-409C-BE32-E72D297353CC}">
              <c16:uniqueId val="{00000000-AE56-4637-9004-270257643EE6}"/>
            </c:ext>
          </c:extLst>
        </c:ser>
        <c:ser>
          <c:idx val="1"/>
          <c:order val="1"/>
          <c:tx>
            <c:strRef>
              <c:f>'Sales by transmission and fuel '!$C$3</c:f>
              <c:strCache>
                <c:ptCount val="1"/>
                <c:pt idx="0">
                  <c:v>Sum of total_revenue</c:v>
                </c:pt>
              </c:strCache>
            </c:strRef>
          </c:tx>
          <c:spPr>
            <a:solidFill>
              <a:schemeClr val="accent2"/>
            </a:solidFill>
            <a:ln>
              <a:noFill/>
            </a:ln>
            <a:effectLst/>
          </c:spPr>
          <c:invertIfNegative val="0"/>
          <c:cat>
            <c:multiLvlStrRef>
              <c:f>'Sales by transmission and fuel '!$A$4:$A$16</c:f>
              <c:multiLvlStrCache>
                <c:ptCount val="9"/>
                <c:lvl>
                  <c:pt idx="0">
                    <c:v>diesel</c:v>
                  </c:pt>
                  <c:pt idx="1">
                    <c:v>electric</c:v>
                  </c:pt>
                  <c:pt idx="2">
                    <c:v>gasoline</c:v>
                  </c:pt>
                  <c:pt idx="3">
                    <c:v>diesel</c:v>
                  </c:pt>
                  <c:pt idx="4">
                    <c:v>electric</c:v>
                  </c:pt>
                  <c:pt idx="5">
                    <c:v>gasoline</c:v>
                  </c:pt>
                  <c:pt idx="6">
                    <c:v>diesel</c:v>
                  </c:pt>
                  <c:pt idx="7">
                    <c:v>electric</c:v>
                  </c:pt>
                  <c:pt idx="8">
                    <c:v>gasoline</c:v>
                  </c:pt>
                </c:lvl>
                <c:lvl>
                  <c:pt idx="0">
                    <c:v>automatic</c:v>
                  </c:pt>
                  <c:pt idx="3">
                    <c:v>manual</c:v>
                  </c:pt>
                  <c:pt idx="6">
                    <c:v>not specified</c:v>
                  </c:pt>
                </c:lvl>
              </c:multiLvlStrCache>
            </c:multiLvlStrRef>
          </c:cat>
          <c:val>
            <c:numRef>
              <c:f>'Sales by transmission and fuel '!$C$4:$C$16</c:f>
              <c:numCache>
                <c:formatCode>General</c:formatCode>
                <c:ptCount val="9"/>
                <c:pt idx="0">
                  <c:v>332418018</c:v>
                </c:pt>
                <c:pt idx="1">
                  <c:v>102621075</c:v>
                </c:pt>
                <c:pt idx="2">
                  <c:v>6008894696</c:v>
                </c:pt>
                <c:pt idx="3">
                  <c:v>17061715</c:v>
                </c:pt>
                <c:pt idx="4">
                  <c:v>3748525</c:v>
                </c:pt>
                <c:pt idx="5">
                  <c:v>175883410</c:v>
                </c:pt>
                <c:pt idx="6">
                  <c:v>43316426</c:v>
                </c:pt>
                <c:pt idx="7">
                  <c:v>22416350</c:v>
                </c:pt>
                <c:pt idx="8">
                  <c:v>899652072</c:v>
                </c:pt>
              </c:numCache>
            </c:numRef>
          </c:val>
          <c:extLst>
            <c:ext xmlns:c16="http://schemas.microsoft.com/office/drawing/2014/chart" uri="{C3380CC4-5D6E-409C-BE32-E72D297353CC}">
              <c16:uniqueId val="{00000001-AE56-4637-9004-270257643EE6}"/>
            </c:ext>
          </c:extLst>
        </c:ser>
        <c:ser>
          <c:idx val="2"/>
          <c:order val="2"/>
          <c:tx>
            <c:strRef>
              <c:f>'Sales by transmission and fuel '!$D$3</c:f>
              <c:strCache>
                <c:ptCount val="1"/>
                <c:pt idx="0">
                  <c:v>Sum of total_gross_profit</c:v>
                </c:pt>
              </c:strCache>
            </c:strRef>
          </c:tx>
          <c:spPr>
            <a:solidFill>
              <a:schemeClr val="accent3"/>
            </a:solidFill>
            <a:ln>
              <a:noFill/>
            </a:ln>
            <a:effectLst/>
          </c:spPr>
          <c:invertIfNegative val="0"/>
          <c:cat>
            <c:multiLvlStrRef>
              <c:f>'Sales by transmission and fuel '!$A$4:$A$16</c:f>
              <c:multiLvlStrCache>
                <c:ptCount val="9"/>
                <c:lvl>
                  <c:pt idx="0">
                    <c:v>diesel</c:v>
                  </c:pt>
                  <c:pt idx="1">
                    <c:v>electric</c:v>
                  </c:pt>
                  <c:pt idx="2">
                    <c:v>gasoline</c:v>
                  </c:pt>
                  <c:pt idx="3">
                    <c:v>diesel</c:v>
                  </c:pt>
                  <c:pt idx="4">
                    <c:v>electric</c:v>
                  </c:pt>
                  <c:pt idx="5">
                    <c:v>gasoline</c:v>
                  </c:pt>
                  <c:pt idx="6">
                    <c:v>diesel</c:v>
                  </c:pt>
                  <c:pt idx="7">
                    <c:v>electric</c:v>
                  </c:pt>
                  <c:pt idx="8">
                    <c:v>gasoline</c:v>
                  </c:pt>
                </c:lvl>
                <c:lvl>
                  <c:pt idx="0">
                    <c:v>automatic</c:v>
                  </c:pt>
                  <c:pt idx="3">
                    <c:v>manual</c:v>
                  </c:pt>
                  <c:pt idx="6">
                    <c:v>not specified</c:v>
                  </c:pt>
                </c:lvl>
              </c:multiLvlStrCache>
            </c:multiLvlStrRef>
          </c:cat>
          <c:val>
            <c:numRef>
              <c:f>'Sales by transmission and fuel '!$D$4:$D$16</c:f>
              <c:numCache>
                <c:formatCode>General</c:formatCode>
                <c:ptCount val="9"/>
                <c:pt idx="0">
                  <c:v>-2935582</c:v>
                </c:pt>
                <c:pt idx="1">
                  <c:v>-907300</c:v>
                </c:pt>
                <c:pt idx="2">
                  <c:v>-65189629</c:v>
                </c:pt>
                <c:pt idx="3">
                  <c:v>-550835</c:v>
                </c:pt>
                <c:pt idx="4">
                  <c:v>-8975</c:v>
                </c:pt>
                <c:pt idx="5">
                  <c:v>-4472190</c:v>
                </c:pt>
                <c:pt idx="6">
                  <c:v>-422224</c:v>
                </c:pt>
                <c:pt idx="7">
                  <c:v>-172950</c:v>
                </c:pt>
                <c:pt idx="8">
                  <c:v>-13642403</c:v>
                </c:pt>
              </c:numCache>
            </c:numRef>
          </c:val>
          <c:extLst>
            <c:ext xmlns:c16="http://schemas.microsoft.com/office/drawing/2014/chart" uri="{C3380CC4-5D6E-409C-BE32-E72D297353CC}">
              <c16:uniqueId val="{00000002-AE56-4637-9004-270257643EE6}"/>
            </c:ext>
          </c:extLst>
        </c:ser>
        <c:dLbls>
          <c:showLegendKey val="0"/>
          <c:showVal val="0"/>
          <c:showCatName val="0"/>
          <c:showSerName val="0"/>
          <c:showPercent val="0"/>
          <c:showBubbleSize val="0"/>
        </c:dLbls>
        <c:gapWidth val="219"/>
        <c:axId val="1485142991"/>
        <c:axId val="1485143471"/>
      </c:barChart>
      <c:catAx>
        <c:axId val="148514299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485143471"/>
        <c:crosses val="autoZero"/>
        <c:auto val="1"/>
        <c:lblAlgn val="ctr"/>
        <c:lblOffset val="100"/>
        <c:noMultiLvlLbl val="0"/>
      </c:catAx>
      <c:valAx>
        <c:axId val="1485143471"/>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485142991"/>
        <c:crosses val="autoZero"/>
        <c:crossBetween val="between"/>
        <c:dispUnits>
          <c:builtInUnit val="millions"/>
          <c:dispUnitsLbl>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dispUnitsLbl>
        </c:dispUnits>
      </c:valAx>
      <c:spPr>
        <a:noFill/>
        <a:ln>
          <a:noFill/>
        </a:ln>
        <a:effectLst/>
      </c:spPr>
    </c:plotArea>
    <c:legend>
      <c:legendPos val="r"/>
      <c:layout>
        <c:manualLayout>
          <c:xMode val="edge"/>
          <c:yMode val="edge"/>
          <c:x val="0.73280979657657352"/>
          <c:y val="0.11249239417967315"/>
          <c:w val="0.26490369417919768"/>
          <c:h val="0.47316122957735579"/>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[V3_Summary.xlsb]Sales by fuel type!PivotTable11</c:name>
    <c:fmtId val="16"/>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Sale</a:t>
            </a:r>
            <a:r>
              <a:rPr lang="en-US" baseline="0"/>
              <a:t> by fuel type</a:t>
            </a:r>
            <a:endParaRPr lang="en-US"/>
          </a:p>
        </c:rich>
      </c:tx>
      <c:layout>
        <c:manualLayout>
          <c:xMode val="edge"/>
          <c:yMode val="edge"/>
          <c:x val="0.41197131932902853"/>
          <c:y val="2.4169438713208976E-2"/>
        </c:manualLayout>
      </c:layout>
      <c:overlay val="0"/>
      <c:spPr>
        <a:noFill/>
        <a:ln>
          <a:noFill/>
        </a:ln>
        <a:effectLst/>
      </c:spPr>
    </c:title>
    <c:autoTitleDeleted val="0"/>
    <c:pivotFmts>
      <c:pivotFmt>
        <c:idx val="0"/>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0"/>
          <c:showCatName val="0"/>
          <c:showSerName val="0"/>
          <c:showPercent val="1"/>
          <c:showBubbleSize val="0"/>
          <c:extLst>
            <c:ext xmlns:c15="http://schemas.microsoft.com/office/drawing/2012/chart" uri="{CE6537A1-D6FC-4f65-9D91-7224C49458BB}"/>
          </c:extLst>
        </c:dLbl>
      </c:pivotFmt>
      <c:pivotFmt>
        <c:idx val="1"/>
        <c:spPr>
          <a:solidFill>
            <a:schemeClr val="accent1"/>
          </a:solidFill>
          <a:ln w="19050">
            <a:solidFill>
              <a:schemeClr val="lt1"/>
            </a:solidFill>
          </a:ln>
          <a:effectLst/>
        </c:spPr>
        <c:marker>
          <c:symbol val="none"/>
        </c:marker>
        <c:dLbl>
          <c:idx val="0"/>
          <c:delete val="1"/>
          <c:extLst>
            <c:ext xmlns:c15="http://schemas.microsoft.com/office/drawing/2012/chart" uri="{CE6537A1-D6FC-4f65-9D91-7224C49458BB}"/>
          </c:extLst>
        </c:dLbl>
      </c:pivotFmt>
      <c:pivotFmt>
        <c:idx val="2"/>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0"/>
          <c:showCatName val="0"/>
          <c:showSerName val="0"/>
          <c:showPercent val="1"/>
          <c:showBubbleSize val="0"/>
          <c:extLst>
            <c:ext xmlns:c15="http://schemas.microsoft.com/office/drawing/2012/chart" uri="{CE6537A1-D6FC-4f65-9D91-7224C49458BB}"/>
          </c:extLst>
        </c:dLbl>
      </c:pivotFmt>
      <c:pivotFmt>
        <c:idx val="3"/>
        <c:spPr>
          <a:solidFill>
            <a:schemeClr val="accent1"/>
          </a:solidFill>
          <a:ln w="19050">
            <a:solidFill>
              <a:schemeClr val="lt1"/>
            </a:solidFill>
          </a:ln>
          <a:effectLst/>
        </c:spPr>
      </c:pivotFmt>
      <c:pivotFmt>
        <c:idx val="4"/>
        <c:spPr>
          <a:solidFill>
            <a:schemeClr val="accent1"/>
          </a:solidFill>
          <a:ln w="19050">
            <a:solidFill>
              <a:schemeClr val="lt1"/>
            </a:solidFill>
          </a:ln>
          <a:effectLst/>
        </c:spPr>
      </c:pivotFmt>
      <c:pivotFmt>
        <c:idx val="5"/>
        <c:spPr>
          <a:solidFill>
            <a:schemeClr val="accent1"/>
          </a:solidFill>
          <a:ln w="19050">
            <a:solidFill>
              <a:schemeClr val="lt1"/>
            </a:solidFill>
          </a:ln>
          <a:effectLst/>
        </c:spPr>
      </c:pivotFmt>
      <c:pivotFmt>
        <c:idx val="6"/>
        <c:spPr>
          <a:solidFill>
            <a:schemeClr val="accent1"/>
          </a:solidFill>
          <a:ln w="19050">
            <a:solidFill>
              <a:schemeClr val="lt1"/>
            </a:solidFill>
          </a:ln>
          <a:effectLst/>
        </c:spPr>
        <c:marker>
          <c:symbol val="none"/>
        </c:marker>
        <c:dLbl>
          <c:idx val="0"/>
          <c:delete val="1"/>
          <c:extLst>
            <c:ext xmlns:c15="http://schemas.microsoft.com/office/drawing/2012/chart" uri="{CE6537A1-D6FC-4f65-9D91-7224C49458BB}"/>
          </c:extLst>
        </c:dLbl>
      </c:pivotFmt>
      <c:pivotFmt>
        <c:idx val="7"/>
        <c:spPr>
          <a:solidFill>
            <a:schemeClr val="accent1"/>
          </a:solidFill>
          <a:ln w="19050">
            <a:solidFill>
              <a:schemeClr val="lt1"/>
            </a:solidFill>
          </a:ln>
          <a:effectLst/>
        </c:spPr>
      </c:pivotFmt>
      <c:pivotFmt>
        <c:idx val="8"/>
        <c:spPr>
          <a:solidFill>
            <a:schemeClr val="accent1"/>
          </a:solidFill>
          <a:ln w="19050">
            <a:solidFill>
              <a:schemeClr val="lt1"/>
            </a:solidFill>
          </a:ln>
          <a:effectLst/>
        </c:spPr>
      </c:pivotFmt>
      <c:pivotFmt>
        <c:idx val="9"/>
        <c:spPr>
          <a:solidFill>
            <a:schemeClr val="accent1"/>
          </a:solidFill>
          <a:ln w="19050">
            <a:solidFill>
              <a:schemeClr val="lt1"/>
            </a:solidFill>
          </a:ln>
          <a:effectLst/>
        </c:spPr>
      </c:pivotFmt>
      <c:pivotFmt>
        <c:idx val="10"/>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0"/>
          <c:showCatName val="0"/>
          <c:showSerName val="0"/>
          <c:showPercent val="1"/>
          <c:showBubbleSize val="0"/>
          <c:extLst>
            <c:ext xmlns:c15="http://schemas.microsoft.com/office/drawing/2012/chart" uri="{CE6537A1-D6FC-4f65-9D91-7224C49458BB}"/>
          </c:extLst>
        </c:dLbl>
      </c:pivotFmt>
      <c:pivotFmt>
        <c:idx val="11"/>
        <c:spPr>
          <a:solidFill>
            <a:schemeClr val="accent1"/>
          </a:solidFill>
          <a:ln w="19050">
            <a:solidFill>
              <a:schemeClr val="lt1"/>
            </a:solidFill>
          </a:ln>
          <a:effectLst/>
        </c:spPr>
      </c:pivotFmt>
      <c:pivotFmt>
        <c:idx val="12"/>
        <c:spPr>
          <a:solidFill>
            <a:schemeClr val="accent1"/>
          </a:solidFill>
          <a:ln w="19050">
            <a:solidFill>
              <a:schemeClr val="lt1"/>
            </a:solidFill>
          </a:ln>
          <a:effectLst/>
        </c:spPr>
      </c:pivotFmt>
      <c:pivotFmt>
        <c:idx val="13"/>
        <c:spPr>
          <a:solidFill>
            <a:schemeClr val="accent1"/>
          </a:solidFill>
          <a:ln w="19050">
            <a:solidFill>
              <a:schemeClr val="lt1"/>
            </a:solidFill>
          </a:ln>
          <a:effectLst/>
        </c:spPr>
      </c:pivotFmt>
      <c:pivotFmt>
        <c:idx val="14"/>
        <c:spPr>
          <a:solidFill>
            <a:schemeClr val="accent1"/>
          </a:solidFill>
          <a:ln w="19050">
            <a:solidFill>
              <a:schemeClr val="lt1"/>
            </a:solidFill>
          </a:ln>
          <a:effectLst/>
        </c:spPr>
        <c:marker>
          <c:symbol val="none"/>
        </c:marker>
        <c:dLbl>
          <c:idx val="0"/>
          <c:delete val="1"/>
          <c:extLst>
            <c:ext xmlns:c15="http://schemas.microsoft.com/office/drawing/2012/chart" uri="{CE6537A1-D6FC-4f65-9D91-7224C49458BB}"/>
          </c:extLst>
        </c:dLbl>
      </c:pivotFmt>
      <c:pivotFmt>
        <c:idx val="15"/>
        <c:spPr>
          <a:solidFill>
            <a:schemeClr val="accent1"/>
          </a:solidFill>
          <a:ln w="19050">
            <a:solidFill>
              <a:schemeClr val="lt1"/>
            </a:solidFill>
          </a:ln>
          <a:effectLst/>
        </c:spPr>
      </c:pivotFmt>
      <c:pivotFmt>
        <c:idx val="16"/>
        <c:spPr>
          <a:solidFill>
            <a:schemeClr val="accent1"/>
          </a:solidFill>
          <a:ln w="19050">
            <a:solidFill>
              <a:schemeClr val="lt1"/>
            </a:solidFill>
          </a:ln>
          <a:effectLst/>
        </c:spPr>
      </c:pivotFmt>
      <c:pivotFmt>
        <c:idx val="17"/>
        <c:spPr>
          <a:solidFill>
            <a:schemeClr val="accent1"/>
          </a:solidFill>
          <a:ln w="19050">
            <a:solidFill>
              <a:schemeClr val="lt1"/>
            </a:solidFill>
          </a:ln>
          <a:effectLst/>
        </c:spPr>
      </c:pivotFmt>
    </c:pivotFmts>
    <c:plotArea>
      <c:layout/>
      <c:pieChart>
        <c:varyColors val="1"/>
        <c:ser>
          <c:idx val="0"/>
          <c:order val="0"/>
          <c:tx>
            <c:strRef>
              <c:f>'Sales by fuel type'!$B$3</c:f>
              <c:strCache>
                <c:ptCount val="1"/>
                <c:pt idx="0">
                  <c:v>Sum of total_revenue</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F2E9-468F-88FE-37A0B5576778}"/>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F2E9-468F-88FE-37A0B5576778}"/>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F2E9-468F-88FE-37A0B5576778}"/>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0"/>
            <c:showCatName val="0"/>
            <c:showSerName val="0"/>
            <c:showPercent val="1"/>
            <c:showBubbleSize val="0"/>
            <c:showLeaderLines val="0"/>
            <c:extLst>
              <c:ext xmlns:c15="http://schemas.microsoft.com/office/drawing/2012/chart" uri="{CE6537A1-D6FC-4f65-9D91-7224C49458BB}"/>
            </c:extLst>
          </c:dLbls>
          <c:cat>
            <c:strRef>
              <c:f>'Sales by fuel type'!$A$4:$A$7</c:f>
              <c:strCache>
                <c:ptCount val="3"/>
                <c:pt idx="0">
                  <c:v>diesel</c:v>
                </c:pt>
                <c:pt idx="1">
                  <c:v>electric</c:v>
                </c:pt>
                <c:pt idx="2">
                  <c:v>gasoline</c:v>
                </c:pt>
              </c:strCache>
            </c:strRef>
          </c:cat>
          <c:val>
            <c:numRef>
              <c:f>'Sales by fuel type'!$B$4:$B$7</c:f>
              <c:numCache>
                <c:formatCode>General</c:formatCode>
                <c:ptCount val="3"/>
                <c:pt idx="0">
                  <c:v>392796159</c:v>
                </c:pt>
                <c:pt idx="1">
                  <c:v>128785950</c:v>
                </c:pt>
                <c:pt idx="2">
                  <c:v>7084430178</c:v>
                </c:pt>
              </c:numCache>
            </c:numRef>
          </c:val>
          <c:extLst>
            <c:ext xmlns:c16="http://schemas.microsoft.com/office/drawing/2014/chart" uri="{C3380CC4-5D6E-409C-BE32-E72D297353CC}">
              <c16:uniqueId val="{00000006-F2E9-468F-88FE-37A0B5576778}"/>
            </c:ext>
          </c:extLst>
        </c:ser>
        <c:ser>
          <c:idx val="1"/>
          <c:order val="1"/>
          <c:tx>
            <c:strRef>
              <c:f>'Sales by fuel type'!$C$3</c:f>
              <c:strCache>
                <c:ptCount val="1"/>
                <c:pt idx="0">
                  <c:v>Sum of total_inventory_sold</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8-F2E9-468F-88FE-37A0B5576778}"/>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A-F2E9-468F-88FE-37A0B5576778}"/>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C-F2E9-468F-88FE-37A0B5576778}"/>
              </c:ext>
            </c:extLst>
          </c:dPt>
          <c:cat>
            <c:strRef>
              <c:f>'Sales by fuel type'!$A$4:$A$7</c:f>
              <c:strCache>
                <c:ptCount val="3"/>
                <c:pt idx="0">
                  <c:v>diesel</c:v>
                </c:pt>
                <c:pt idx="1">
                  <c:v>electric</c:v>
                </c:pt>
                <c:pt idx="2">
                  <c:v>gasoline</c:v>
                </c:pt>
              </c:strCache>
            </c:strRef>
          </c:cat>
          <c:val>
            <c:numRef>
              <c:f>'Sales by fuel type'!$C$4:$C$7</c:f>
              <c:numCache>
                <c:formatCode>General</c:formatCode>
                <c:ptCount val="3"/>
                <c:pt idx="0">
                  <c:v>30885</c:v>
                </c:pt>
                <c:pt idx="1">
                  <c:v>12207</c:v>
                </c:pt>
                <c:pt idx="2">
                  <c:v>515719</c:v>
                </c:pt>
              </c:numCache>
            </c:numRef>
          </c:val>
          <c:extLst>
            <c:ext xmlns:c16="http://schemas.microsoft.com/office/drawing/2014/chart" uri="{C3380CC4-5D6E-409C-BE32-E72D297353CC}">
              <c16:uniqueId val="{0000000D-F2E9-468F-88FE-37A0B5576778}"/>
            </c:ext>
          </c:extLst>
        </c:ser>
        <c:dLbls>
          <c:showLegendKey val="0"/>
          <c:showVal val="0"/>
          <c:showCatName val="0"/>
          <c:showSerName val="0"/>
          <c:showPercent val="0"/>
          <c:showBubbleSize val="0"/>
          <c:showLeaderLines val="0"/>
        </c:dLbls>
        <c:firstSliceAng val="0"/>
      </c:pieChart>
      <c:spPr>
        <a:noFill/>
        <a:ln>
          <a:noFill/>
        </a:ln>
        <a:effectLst/>
      </c:spPr>
    </c:plotArea>
    <c:legend>
      <c:legendPos val="r"/>
      <c:layout>
        <c:manualLayout>
          <c:xMode val="edge"/>
          <c:yMode val="edge"/>
          <c:x val="0.62706651287966164"/>
          <c:y val="0.82965261695229264"/>
          <c:w val="0.36139946174548249"/>
          <c:h val="0.12532934720058389"/>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1">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10361612" y="6130437"/>
            <a:ext cx="1146283" cy="370396"/>
          </a:xfrm>
          <a:prstGeom prst="rect">
            <a:avLst/>
          </a:prstGeom>
        </p:spPr>
        <p:txBody>
          <a:bodyPr/>
          <a:lstStyle/>
          <a:p>
            <a:fld id="{760B60C4-358D-4AD7-A564-D1348D6B49C5}" type="datetimeFigureOut">
              <a:rPr lang="en-ZA" smtClean="0"/>
              <a:t>2026/05/06</a:t>
            </a:fld>
            <a:endParaRPr lang="en-ZA"/>
          </a:p>
        </p:txBody>
      </p:sp>
      <p:sp>
        <p:nvSpPr>
          <p:cNvPr id="5" name="Footer Placeholder 4"/>
          <p:cNvSpPr>
            <a:spLocks noGrp="1"/>
          </p:cNvSpPr>
          <p:nvPr>
            <p:ph type="ftr" sz="quarter" idx="11"/>
          </p:nvPr>
        </p:nvSpPr>
        <p:spPr>
          <a:xfrm>
            <a:off x="2589212" y="6135808"/>
            <a:ext cx="7619999" cy="365125"/>
          </a:xfrm>
          <a:prstGeom prst="rect">
            <a:avLst/>
          </a:prstGeom>
        </p:spPr>
        <p:txBody>
          <a:bodyPr/>
          <a:lstStyle/>
          <a:p>
            <a:endParaRPr lang="en-ZA"/>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txBody>
          <a:bodyPr/>
          <a:lstStyle/>
          <a:p>
            <a:endParaRPr lang="en-ZA"/>
          </a:p>
        </p:txBody>
      </p:sp>
      <p:sp>
        <p:nvSpPr>
          <p:cNvPr id="6" name="Slide Number Placeholder 5"/>
          <p:cNvSpPr>
            <a:spLocks noGrp="1"/>
          </p:cNvSpPr>
          <p:nvPr>
            <p:ph type="sldNum" sz="quarter" idx="12"/>
          </p:nvPr>
        </p:nvSpPr>
        <p:spPr>
          <a:xfrm>
            <a:off x="531812" y="4529540"/>
            <a:ext cx="779767" cy="365125"/>
          </a:xfrm>
          <a:prstGeom prst="rect">
            <a:avLst/>
          </a:prstGeom>
        </p:spPr>
        <p:txBody>
          <a:bodyPr/>
          <a:lstStyle/>
          <a:p>
            <a:fld id="{63953503-5C36-47C3-A3B8-C596E52B1E37}" type="slidenum">
              <a:rPr lang="en-ZA" smtClean="0"/>
              <a:t>‹#›</a:t>
            </a:fld>
            <a:endParaRPr lang="en-ZA"/>
          </a:p>
        </p:txBody>
      </p:sp>
    </p:spTree>
    <p:extLst>
      <p:ext uri="{BB962C8B-B14F-4D97-AF65-F5344CB8AC3E}">
        <p14:creationId xmlns:p14="http://schemas.microsoft.com/office/powerpoint/2010/main" val="35095562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361612" y="6130437"/>
            <a:ext cx="1146283" cy="370396"/>
          </a:xfrm>
          <a:prstGeom prst="rect">
            <a:avLst/>
          </a:prstGeom>
        </p:spPr>
        <p:txBody>
          <a:bodyPr/>
          <a:lstStyle/>
          <a:p>
            <a:fld id="{760B60C4-358D-4AD7-A564-D1348D6B49C5}" type="datetimeFigureOut">
              <a:rPr lang="en-ZA" smtClean="0"/>
              <a:t>2026/05/06</a:t>
            </a:fld>
            <a:endParaRPr lang="en-ZA"/>
          </a:p>
        </p:txBody>
      </p:sp>
      <p:sp>
        <p:nvSpPr>
          <p:cNvPr id="5" name="Footer Placeholder 4"/>
          <p:cNvSpPr>
            <a:spLocks noGrp="1"/>
          </p:cNvSpPr>
          <p:nvPr>
            <p:ph type="ftr" sz="quarter" idx="11"/>
          </p:nvPr>
        </p:nvSpPr>
        <p:spPr>
          <a:xfrm>
            <a:off x="2589212" y="6135808"/>
            <a:ext cx="7619999" cy="365125"/>
          </a:xfrm>
          <a:prstGeom prst="rect">
            <a:avLst/>
          </a:prstGeom>
        </p:spPr>
        <p:txBody>
          <a:bodyPr/>
          <a:lstStyle/>
          <a:p>
            <a:endParaRPr lang="en-ZA"/>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1" y="539484"/>
            <a:ext cx="1487819" cy="756078"/>
          </a:xfrm>
          <a:prstGeom prst="rect">
            <a:avLst/>
          </a:prstGeom>
        </p:spPr>
        <p:txBody>
          <a:bodyPr/>
          <a:lstStyle/>
          <a:p>
            <a:fld id="{63953503-5C36-47C3-A3B8-C596E52B1E37}" type="slidenum">
              <a:rPr lang="en-ZA" smtClean="0"/>
              <a:t>‹#›</a:t>
            </a:fld>
            <a:endParaRPr lang="en-ZA"/>
          </a:p>
        </p:txBody>
      </p:sp>
    </p:spTree>
    <p:extLst>
      <p:ext uri="{BB962C8B-B14F-4D97-AF65-F5344CB8AC3E}">
        <p14:creationId xmlns:p14="http://schemas.microsoft.com/office/powerpoint/2010/main" val="30877567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10361612" y="6130437"/>
            <a:ext cx="1146283" cy="370396"/>
          </a:xfrm>
          <a:prstGeom prst="rect">
            <a:avLst/>
          </a:prstGeom>
        </p:spPr>
        <p:txBody>
          <a:bodyPr/>
          <a:lstStyle/>
          <a:p>
            <a:fld id="{760B60C4-358D-4AD7-A564-D1348D6B49C5}" type="datetimeFigureOut">
              <a:rPr lang="en-ZA" smtClean="0"/>
              <a:t>2026/05/06</a:t>
            </a:fld>
            <a:endParaRPr lang="en-ZA"/>
          </a:p>
        </p:txBody>
      </p:sp>
      <p:sp>
        <p:nvSpPr>
          <p:cNvPr id="5" name="Footer Placeholder 4"/>
          <p:cNvSpPr>
            <a:spLocks noGrp="1"/>
          </p:cNvSpPr>
          <p:nvPr>
            <p:ph type="ftr" sz="quarter" idx="11"/>
          </p:nvPr>
        </p:nvSpPr>
        <p:spPr>
          <a:xfrm>
            <a:off x="2589212" y="6135808"/>
            <a:ext cx="7619999" cy="365125"/>
          </a:xfrm>
          <a:prstGeom prst="rect">
            <a:avLst/>
          </a:prstGeom>
        </p:spPr>
        <p:txBody>
          <a:bodyPr/>
          <a:lstStyle/>
          <a:p>
            <a:endParaRPr lang="en-ZA"/>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a:prstGeom prst="rect">
            <a:avLst/>
          </a:prstGeom>
        </p:spPr>
        <p:txBody>
          <a:bodyPr/>
          <a:lstStyle/>
          <a:p>
            <a:fld id="{63953503-5C36-47C3-A3B8-C596E52B1E37}" type="slidenum">
              <a:rPr lang="en-ZA" smtClean="0"/>
              <a:t>‹#›</a:t>
            </a:fld>
            <a:endParaRPr lang="en-ZA"/>
          </a:p>
        </p:txBody>
      </p:sp>
    </p:spTree>
    <p:extLst>
      <p:ext uri="{BB962C8B-B14F-4D97-AF65-F5344CB8AC3E}">
        <p14:creationId xmlns:p14="http://schemas.microsoft.com/office/powerpoint/2010/main" val="19643255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a:xfrm>
            <a:off x="10361612" y="6130437"/>
            <a:ext cx="1146283" cy="370396"/>
          </a:xfrm>
          <a:prstGeom prst="rect">
            <a:avLst/>
          </a:prstGeom>
        </p:spPr>
        <p:txBody>
          <a:bodyPr/>
          <a:lstStyle/>
          <a:p>
            <a:fld id="{760B60C4-358D-4AD7-A564-D1348D6B49C5}" type="datetimeFigureOut">
              <a:rPr lang="en-ZA" smtClean="0"/>
              <a:t>2026/05/06</a:t>
            </a:fld>
            <a:endParaRPr lang="en-ZA"/>
          </a:p>
        </p:txBody>
      </p:sp>
      <p:sp>
        <p:nvSpPr>
          <p:cNvPr id="6" name="Footer Placeholder 5"/>
          <p:cNvSpPr>
            <a:spLocks noGrp="1"/>
          </p:cNvSpPr>
          <p:nvPr>
            <p:ph type="ftr" sz="quarter" idx="11"/>
          </p:nvPr>
        </p:nvSpPr>
        <p:spPr>
          <a:xfrm>
            <a:off x="2589212" y="6135808"/>
            <a:ext cx="7619999" cy="365125"/>
          </a:xfrm>
          <a:prstGeom prst="rect">
            <a:avLst/>
          </a:prstGeom>
        </p:spPr>
        <p:txBody>
          <a:bodyPr/>
          <a:lstStyle/>
          <a:p>
            <a:endParaRPr lang="en-ZA"/>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a:prstGeom prst="rect">
            <a:avLst/>
          </a:prstGeom>
        </p:spPr>
        <p:txBody>
          <a:bodyPr/>
          <a:lstStyle/>
          <a:p>
            <a:fld id="{63953503-5C36-47C3-A3B8-C596E52B1E37}" type="slidenum">
              <a:rPr lang="en-ZA" smtClean="0"/>
              <a:t>‹#›</a:t>
            </a:fld>
            <a:endParaRPr lang="en-ZA"/>
          </a:p>
        </p:txBody>
      </p:sp>
    </p:spTree>
    <p:extLst>
      <p:ext uri="{BB962C8B-B14F-4D97-AF65-F5344CB8AC3E}">
        <p14:creationId xmlns:p14="http://schemas.microsoft.com/office/powerpoint/2010/main" val="31904973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a:xfrm>
            <a:off x="10361612" y="6130437"/>
            <a:ext cx="1146283" cy="370396"/>
          </a:xfrm>
          <a:prstGeom prst="rect">
            <a:avLst/>
          </a:prstGeom>
        </p:spPr>
        <p:txBody>
          <a:bodyPr/>
          <a:lstStyle/>
          <a:p>
            <a:fld id="{760B60C4-358D-4AD7-A564-D1348D6B49C5}" type="datetimeFigureOut">
              <a:rPr lang="en-ZA" smtClean="0"/>
              <a:t>2026/05/06</a:t>
            </a:fld>
            <a:endParaRPr lang="en-ZA"/>
          </a:p>
        </p:txBody>
      </p:sp>
      <p:sp>
        <p:nvSpPr>
          <p:cNvPr id="8" name="Footer Placeholder 7"/>
          <p:cNvSpPr>
            <a:spLocks noGrp="1"/>
          </p:cNvSpPr>
          <p:nvPr>
            <p:ph type="ftr" sz="quarter" idx="11"/>
          </p:nvPr>
        </p:nvSpPr>
        <p:spPr>
          <a:xfrm>
            <a:off x="2589212" y="6135808"/>
            <a:ext cx="7619999" cy="365125"/>
          </a:xfrm>
          <a:prstGeom prst="rect">
            <a:avLst/>
          </a:prstGeom>
        </p:spPr>
        <p:txBody>
          <a:bodyPr/>
          <a:lstStyle/>
          <a:p>
            <a:endParaRPr lang="en-ZA"/>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a:prstGeom prst="rect">
            <a:avLst/>
          </a:prstGeom>
        </p:spPr>
        <p:txBody>
          <a:bodyPr/>
          <a:lstStyle/>
          <a:p>
            <a:fld id="{63953503-5C36-47C3-A3B8-C596E52B1E37}" type="slidenum">
              <a:rPr lang="en-ZA" smtClean="0"/>
              <a:t>‹#›</a:t>
            </a:fld>
            <a:endParaRPr lang="en-ZA"/>
          </a:p>
        </p:txBody>
      </p:sp>
    </p:spTree>
    <p:extLst>
      <p:ext uri="{BB962C8B-B14F-4D97-AF65-F5344CB8AC3E}">
        <p14:creationId xmlns:p14="http://schemas.microsoft.com/office/powerpoint/2010/main" val="26168516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a:xfrm>
            <a:off x="10361612" y="6130437"/>
            <a:ext cx="1146283" cy="370396"/>
          </a:xfrm>
          <a:prstGeom prst="rect">
            <a:avLst/>
          </a:prstGeom>
        </p:spPr>
        <p:txBody>
          <a:bodyPr/>
          <a:lstStyle/>
          <a:p>
            <a:fld id="{760B60C4-358D-4AD7-A564-D1348D6B49C5}" type="datetimeFigureOut">
              <a:rPr lang="en-ZA" smtClean="0"/>
              <a:t>2026/05/06</a:t>
            </a:fld>
            <a:endParaRPr lang="en-ZA"/>
          </a:p>
        </p:txBody>
      </p:sp>
      <p:sp>
        <p:nvSpPr>
          <p:cNvPr id="4" name="Footer Placeholder 3"/>
          <p:cNvSpPr>
            <a:spLocks noGrp="1"/>
          </p:cNvSpPr>
          <p:nvPr>
            <p:ph type="ftr" sz="quarter" idx="11"/>
          </p:nvPr>
        </p:nvSpPr>
        <p:spPr>
          <a:xfrm>
            <a:off x="2589212" y="6135808"/>
            <a:ext cx="7619999" cy="365125"/>
          </a:xfrm>
          <a:prstGeom prst="rect">
            <a:avLst/>
          </a:prstGeom>
        </p:spPr>
        <p:txBody>
          <a:bodyPr/>
          <a:lstStyle/>
          <a:p>
            <a:endParaRPr lang="en-ZA"/>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a:xfrm>
            <a:off x="531811" y="539484"/>
            <a:ext cx="1487819" cy="756078"/>
          </a:xfrm>
          <a:prstGeom prst="rect">
            <a:avLst/>
          </a:prstGeom>
        </p:spPr>
        <p:txBody>
          <a:bodyPr/>
          <a:lstStyle/>
          <a:p>
            <a:fld id="{63953503-5C36-47C3-A3B8-C596E52B1E37}" type="slidenum">
              <a:rPr lang="en-ZA" smtClean="0"/>
              <a:t>‹#›</a:t>
            </a:fld>
            <a:endParaRPr lang="en-ZA"/>
          </a:p>
        </p:txBody>
      </p:sp>
    </p:spTree>
    <p:extLst>
      <p:ext uri="{BB962C8B-B14F-4D97-AF65-F5344CB8AC3E}">
        <p14:creationId xmlns:p14="http://schemas.microsoft.com/office/powerpoint/2010/main" val="7570619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10361612" y="6130437"/>
            <a:ext cx="1146283" cy="370396"/>
          </a:xfrm>
          <a:prstGeom prst="rect">
            <a:avLst/>
          </a:prstGeom>
        </p:spPr>
        <p:txBody>
          <a:bodyPr/>
          <a:lstStyle/>
          <a:p>
            <a:fld id="{760B60C4-358D-4AD7-A564-D1348D6B49C5}" type="datetimeFigureOut">
              <a:rPr lang="en-ZA" smtClean="0"/>
              <a:t>2026/05/06</a:t>
            </a:fld>
            <a:endParaRPr lang="en-ZA"/>
          </a:p>
        </p:txBody>
      </p:sp>
      <p:sp>
        <p:nvSpPr>
          <p:cNvPr id="3" name="Footer Placeholder 2"/>
          <p:cNvSpPr>
            <a:spLocks noGrp="1"/>
          </p:cNvSpPr>
          <p:nvPr>
            <p:ph type="ftr" sz="quarter" idx="11"/>
          </p:nvPr>
        </p:nvSpPr>
        <p:spPr>
          <a:xfrm>
            <a:off x="2589212" y="6135808"/>
            <a:ext cx="7619999" cy="365125"/>
          </a:xfrm>
          <a:prstGeom prst="rect">
            <a:avLst/>
          </a:prstGeom>
        </p:spPr>
        <p:txBody>
          <a:bodyPr/>
          <a:lstStyle/>
          <a:p>
            <a:endParaRPr lang="en-ZA"/>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a:xfrm>
            <a:off x="531811" y="539484"/>
            <a:ext cx="1487819" cy="756078"/>
          </a:xfrm>
          <a:prstGeom prst="rect">
            <a:avLst/>
          </a:prstGeom>
        </p:spPr>
        <p:txBody>
          <a:bodyPr/>
          <a:lstStyle/>
          <a:p>
            <a:fld id="{63953503-5C36-47C3-A3B8-C596E52B1E37}" type="slidenum">
              <a:rPr lang="en-ZA" smtClean="0"/>
              <a:t>‹#›</a:t>
            </a:fld>
            <a:endParaRPr lang="en-ZA"/>
          </a:p>
        </p:txBody>
      </p:sp>
    </p:spTree>
    <p:extLst>
      <p:ext uri="{BB962C8B-B14F-4D97-AF65-F5344CB8AC3E}">
        <p14:creationId xmlns:p14="http://schemas.microsoft.com/office/powerpoint/2010/main" val="37445825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10361612" y="6130437"/>
            <a:ext cx="1146283" cy="370396"/>
          </a:xfrm>
          <a:prstGeom prst="rect">
            <a:avLst/>
          </a:prstGeom>
        </p:spPr>
        <p:txBody>
          <a:bodyPr/>
          <a:lstStyle/>
          <a:p>
            <a:fld id="{760B60C4-358D-4AD7-A564-D1348D6B49C5}" type="datetimeFigureOut">
              <a:rPr lang="en-ZA" smtClean="0"/>
              <a:t>2026/05/06</a:t>
            </a:fld>
            <a:endParaRPr lang="en-ZA"/>
          </a:p>
        </p:txBody>
      </p:sp>
      <p:sp>
        <p:nvSpPr>
          <p:cNvPr id="6" name="Footer Placeholder 5"/>
          <p:cNvSpPr>
            <a:spLocks noGrp="1"/>
          </p:cNvSpPr>
          <p:nvPr>
            <p:ph type="ftr" sz="quarter" idx="11"/>
          </p:nvPr>
        </p:nvSpPr>
        <p:spPr>
          <a:xfrm>
            <a:off x="2589212" y="6135808"/>
            <a:ext cx="7619999" cy="365125"/>
          </a:xfrm>
          <a:prstGeom prst="rect">
            <a:avLst/>
          </a:prstGeom>
        </p:spPr>
        <p:txBody>
          <a:bodyPr/>
          <a:lstStyle/>
          <a:p>
            <a:endParaRPr lang="en-ZA"/>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1" y="539484"/>
            <a:ext cx="1487819" cy="756078"/>
          </a:xfrm>
          <a:prstGeom prst="rect">
            <a:avLst/>
          </a:prstGeom>
        </p:spPr>
        <p:txBody>
          <a:bodyPr/>
          <a:lstStyle/>
          <a:p>
            <a:fld id="{63953503-5C36-47C3-A3B8-C596E52B1E37}" type="slidenum">
              <a:rPr lang="en-ZA" smtClean="0"/>
              <a:t>‹#›</a:t>
            </a:fld>
            <a:endParaRPr lang="en-ZA"/>
          </a:p>
        </p:txBody>
      </p:sp>
    </p:spTree>
    <p:extLst>
      <p:ext uri="{BB962C8B-B14F-4D97-AF65-F5344CB8AC3E}">
        <p14:creationId xmlns:p14="http://schemas.microsoft.com/office/powerpoint/2010/main" val="8629854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10361612" y="6130437"/>
            <a:ext cx="1146283" cy="370396"/>
          </a:xfrm>
          <a:prstGeom prst="rect">
            <a:avLst/>
          </a:prstGeom>
        </p:spPr>
        <p:txBody>
          <a:bodyPr/>
          <a:lstStyle/>
          <a:p>
            <a:fld id="{760B60C4-358D-4AD7-A564-D1348D6B49C5}" type="datetimeFigureOut">
              <a:rPr lang="en-ZA" smtClean="0"/>
              <a:t>2026/05/06</a:t>
            </a:fld>
            <a:endParaRPr lang="en-ZA"/>
          </a:p>
        </p:txBody>
      </p:sp>
      <p:sp>
        <p:nvSpPr>
          <p:cNvPr id="6" name="Footer Placeholder 5"/>
          <p:cNvSpPr>
            <a:spLocks noGrp="1"/>
          </p:cNvSpPr>
          <p:nvPr>
            <p:ph type="ftr" sz="quarter" idx="11"/>
          </p:nvPr>
        </p:nvSpPr>
        <p:spPr>
          <a:xfrm>
            <a:off x="2589212" y="6135808"/>
            <a:ext cx="7619999" cy="365125"/>
          </a:xfrm>
          <a:prstGeom prst="rect">
            <a:avLst/>
          </a:prstGeom>
        </p:spPr>
        <p:txBody>
          <a:bodyPr/>
          <a:lstStyle/>
          <a:p>
            <a:endParaRPr lang="en-ZA"/>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a:prstGeom prst="rect">
            <a:avLst/>
          </a:prstGeom>
        </p:spPr>
        <p:txBody>
          <a:bodyPr/>
          <a:lstStyle/>
          <a:p>
            <a:fld id="{63953503-5C36-47C3-A3B8-C596E52B1E37}" type="slidenum">
              <a:rPr lang="en-ZA" smtClean="0"/>
              <a:t>‹#›</a:t>
            </a:fld>
            <a:endParaRPr lang="en-ZA"/>
          </a:p>
        </p:txBody>
      </p:sp>
    </p:spTree>
    <p:extLst>
      <p:ext uri="{BB962C8B-B14F-4D97-AF65-F5344CB8AC3E}">
        <p14:creationId xmlns:p14="http://schemas.microsoft.com/office/powerpoint/2010/main" val="33041300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10361612" y="6130437"/>
            <a:ext cx="1146283" cy="370396"/>
          </a:xfrm>
          <a:prstGeom prst="rect">
            <a:avLst/>
          </a:prstGeom>
        </p:spPr>
        <p:txBody>
          <a:bodyPr/>
          <a:lstStyle/>
          <a:p>
            <a:fld id="{760B60C4-358D-4AD7-A564-D1348D6B49C5}" type="datetimeFigureOut">
              <a:rPr lang="en-ZA" smtClean="0"/>
              <a:t>2026/05/06</a:t>
            </a:fld>
            <a:endParaRPr lang="en-ZA"/>
          </a:p>
        </p:txBody>
      </p:sp>
      <p:sp>
        <p:nvSpPr>
          <p:cNvPr id="5" name="Footer Placeholder 4"/>
          <p:cNvSpPr>
            <a:spLocks noGrp="1"/>
          </p:cNvSpPr>
          <p:nvPr>
            <p:ph type="ftr" sz="quarter" idx="11"/>
          </p:nvPr>
        </p:nvSpPr>
        <p:spPr>
          <a:xfrm>
            <a:off x="2589212" y="6135808"/>
            <a:ext cx="7619999" cy="365125"/>
          </a:xfrm>
          <a:prstGeom prst="rect">
            <a:avLst/>
          </a:prstGeom>
        </p:spPr>
        <p:txBody>
          <a:bodyPr/>
          <a:lstStyle/>
          <a:p>
            <a:endParaRPr lang="en-ZA"/>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a:prstGeom prst="rect">
            <a:avLst/>
          </a:prstGeom>
        </p:spPr>
        <p:txBody>
          <a:bodyPr/>
          <a:lstStyle/>
          <a:p>
            <a:fld id="{63953503-5C36-47C3-A3B8-C596E52B1E37}" type="slidenum">
              <a:rPr lang="en-ZA" smtClean="0"/>
              <a:t>‹#›</a:t>
            </a:fld>
            <a:endParaRPr lang="en-ZA"/>
          </a:p>
        </p:txBody>
      </p:sp>
    </p:spTree>
    <p:extLst>
      <p:ext uri="{BB962C8B-B14F-4D97-AF65-F5344CB8AC3E}">
        <p14:creationId xmlns:p14="http://schemas.microsoft.com/office/powerpoint/2010/main" val="2165716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10361612" y="6130437"/>
            <a:ext cx="1146283" cy="370396"/>
          </a:xfrm>
          <a:prstGeom prst="rect">
            <a:avLst/>
          </a:prstGeom>
        </p:spPr>
        <p:txBody>
          <a:bodyPr/>
          <a:lstStyle/>
          <a:p>
            <a:fld id="{760B60C4-358D-4AD7-A564-D1348D6B49C5}" type="datetimeFigureOut">
              <a:rPr lang="en-ZA" smtClean="0"/>
              <a:t>2026/05/06</a:t>
            </a:fld>
            <a:endParaRPr lang="en-ZA"/>
          </a:p>
        </p:txBody>
      </p:sp>
      <p:sp>
        <p:nvSpPr>
          <p:cNvPr id="5" name="Footer Placeholder 4"/>
          <p:cNvSpPr>
            <a:spLocks noGrp="1"/>
          </p:cNvSpPr>
          <p:nvPr>
            <p:ph type="ftr" sz="quarter" idx="11"/>
          </p:nvPr>
        </p:nvSpPr>
        <p:spPr>
          <a:xfrm>
            <a:off x="2589212" y="6135808"/>
            <a:ext cx="7619999" cy="365125"/>
          </a:xfrm>
          <a:prstGeom prst="rect">
            <a:avLst/>
          </a:prstGeom>
        </p:spPr>
        <p:txBody>
          <a:bodyPr/>
          <a:lstStyle/>
          <a:p>
            <a:endParaRPr lang="en-ZA"/>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a:prstGeom prst="rect">
            <a:avLst/>
          </a:prstGeom>
        </p:spPr>
        <p:txBody>
          <a:bodyPr/>
          <a:lstStyle/>
          <a:p>
            <a:fld id="{63953503-5C36-47C3-A3B8-C596E52B1E37}" type="slidenum">
              <a:rPr lang="en-ZA" smtClean="0"/>
              <a:t>‹#›</a:t>
            </a:fld>
            <a:endParaRPr lang="en-ZA"/>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99627613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a:xfrm>
            <a:off x="10361612" y="6130437"/>
            <a:ext cx="1146283" cy="370396"/>
          </a:xfrm>
          <a:prstGeom prst="rect">
            <a:avLst/>
          </a:prstGeom>
        </p:spPr>
        <p:txBody>
          <a:bodyPr/>
          <a:lstStyle/>
          <a:p>
            <a:fld id="{760B60C4-358D-4AD7-A564-D1348D6B49C5}" type="datetimeFigureOut">
              <a:rPr lang="en-ZA" smtClean="0"/>
              <a:t>2026/05/06</a:t>
            </a:fld>
            <a:endParaRPr lang="en-ZA"/>
          </a:p>
        </p:txBody>
      </p:sp>
      <p:sp>
        <p:nvSpPr>
          <p:cNvPr id="6" name="Footer Placeholder 5"/>
          <p:cNvSpPr>
            <a:spLocks noGrp="1"/>
          </p:cNvSpPr>
          <p:nvPr>
            <p:ph type="ftr" sz="quarter" idx="11"/>
          </p:nvPr>
        </p:nvSpPr>
        <p:spPr>
          <a:xfrm>
            <a:off x="2589212" y="6135808"/>
            <a:ext cx="7619999" cy="365125"/>
          </a:xfrm>
          <a:prstGeom prst="rect">
            <a:avLst/>
          </a:prstGeom>
        </p:spPr>
        <p:txBody>
          <a:bodyPr/>
          <a:lstStyle/>
          <a:p>
            <a:endParaRPr lang="en-ZA"/>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a:prstGeom prst="rect">
            <a:avLst/>
          </a:prstGeom>
        </p:spPr>
        <p:txBody>
          <a:bodyPr/>
          <a:lstStyle/>
          <a:p>
            <a:fld id="{63953503-5C36-47C3-A3B8-C596E52B1E37}" type="slidenum">
              <a:rPr lang="en-ZA" smtClean="0"/>
              <a:t>‹#›</a:t>
            </a:fld>
            <a:endParaRPr lang="en-ZA"/>
          </a:p>
        </p:txBody>
      </p:sp>
    </p:spTree>
    <p:extLst>
      <p:ext uri="{BB962C8B-B14F-4D97-AF65-F5344CB8AC3E}">
        <p14:creationId xmlns:p14="http://schemas.microsoft.com/office/powerpoint/2010/main" val="296689254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a:xfrm>
            <a:off x="10361612" y="6130437"/>
            <a:ext cx="1146283" cy="370396"/>
          </a:xfrm>
          <a:prstGeom prst="rect">
            <a:avLst/>
          </a:prstGeom>
        </p:spPr>
        <p:txBody>
          <a:bodyPr/>
          <a:lstStyle/>
          <a:p>
            <a:fld id="{760B60C4-358D-4AD7-A564-D1348D6B49C5}" type="datetimeFigureOut">
              <a:rPr lang="en-ZA" smtClean="0"/>
              <a:t>2026/05/06</a:t>
            </a:fld>
            <a:endParaRPr lang="en-ZA"/>
          </a:p>
        </p:txBody>
      </p:sp>
      <p:sp>
        <p:nvSpPr>
          <p:cNvPr id="6" name="Footer Placeholder 5"/>
          <p:cNvSpPr>
            <a:spLocks noGrp="1"/>
          </p:cNvSpPr>
          <p:nvPr>
            <p:ph type="ftr" sz="quarter" idx="11"/>
          </p:nvPr>
        </p:nvSpPr>
        <p:spPr>
          <a:xfrm>
            <a:off x="2589212" y="6135808"/>
            <a:ext cx="7619999" cy="365125"/>
          </a:xfrm>
          <a:prstGeom prst="rect">
            <a:avLst/>
          </a:prstGeom>
        </p:spPr>
        <p:txBody>
          <a:bodyPr/>
          <a:lstStyle/>
          <a:p>
            <a:endParaRPr lang="en-ZA"/>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a:prstGeom prst="rect">
            <a:avLst/>
          </a:prstGeom>
        </p:spPr>
        <p:txBody>
          <a:bodyPr/>
          <a:lstStyle/>
          <a:p>
            <a:fld id="{63953503-5C36-47C3-A3B8-C596E52B1E37}" type="slidenum">
              <a:rPr lang="en-ZA" smtClean="0"/>
              <a:t>‹#›</a:t>
            </a:fld>
            <a:endParaRPr lang="en-ZA"/>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89556151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a:xfrm>
            <a:off x="10361612" y="6130437"/>
            <a:ext cx="1146283" cy="370396"/>
          </a:xfrm>
          <a:prstGeom prst="rect">
            <a:avLst/>
          </a:prstGeom>
        </p:spPr>
        <p:txBody>
          <a:bodyPr/>
          <a:lstStyle/>
          <a:p>
            <a:fld id="{760B60C4-358D-4AD7-A564-D1348D6B49C5}" type="datetimeFigureOut">
              <a:rPr lang="en-ZA" smtClean="0"/>
              <a:t>2026/05/06</a:t>
            </a:fld>
            <a:endParaRPr lang="en-ZA"/>
          </a:p>
        </p:txBody>
      </p:sp>
      <p:sp>
        <p:nvSpPr>
          <p:cNvPr id="6" name="Footer Placeholder 5"/>
          <p:cNvSpPr>
            <a:spLocks noGrp="1"/>
          </p:cNvSpPr>
          <p:nvPr>
            <p:ph type="ftr" sz="quarter" idx="11"/>
          </p:nvPr>
        </p:nvSpPr>
        <p:spPr>
          <a:xfrm>
            <a:off x="2589212" y="6135808"/>
            <a:ext cx="7619999" cy="365125"/>
          </a:xfrm>
          <a:prstGeom prst="rect">
            <a:avLst/>
          </a:prstGeom>
        </p:spPr>
        <p:txBody>
          <a:bodyPr/>
          <a:lstStyle/>
          <a:p>
            <a:endParaRPr lang="en-ZA"/>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a:prstGeom prst="rect">
            <a:avLst/>
          </a:prstGeom>
        </p:spPr>
        <p:txBody>
          <a:bodyPr/>
          <a:lstStyle/>
          <a:p>
            <a:fld id="{63953503-5C36-47C3-A3B8-C596E52B1E37}" type="slidenum">
              <a:rPr lang="en-ZA" smtClean="0"/>
              <a:t>‹#›</a:t>
            </a:fld>
            <a:endParaRPr lang="en-ZA"/>
          </a:p>
        </p:txBody>
      </p:sp>
    </p:spTree>
    <p:extLst>
      <p:ext uri="{BB962C8B-B14F-4D97-AF65-F5344CB8AC3E}">
        <p14:creationId xmlns:p14="http://schemas.microsoft.com/office/powerpoint/2010/main" val="301731505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361612" y="6130437"/>
            <a:ext cx="1146283" cy="370396"/>
          </a:xfrm>
          <a:prstGeom prst="rect">
            <a:avLst/>
          </a:prstGeom>
        </p:spPr>
        <p:txBody>
          <a:bodyPr/>
          <a:lstStyle/>
          <a:p>
            <a:fld id="{760B60C4-358D-4AD7-A564-D1348D6B49C5}" type="datetimeFigureOut">
              <a:rPr lang="en-ZA" smtClean="0"/>
              <a:t>2026/05/06</a:t>
            </a:fld>
            <a:endParaRPr lang="en-ZA"/>
          </a:p>
        </p:txBody>
      </p:sp>
      <p:sp>
        <p:nvSpPr>
          <p:cNvPr id="5" name="Footer Placeholder 4"/>
          <p:cNvSpPr>
            <a:spLocks noGrp="1"/>
          </p:cNvSpPr>
          <p:nvPr>
            <p:ph type="ftr" sz="quarter" idx="11"/>
          </p:nvPr>
        </p:nvSpPr>
        <p:spPr>
          <a:xfrm>
            <a:off x="2589212" y="6135808"/>
            <a:ext cx="7619999" cy="365125"/>
          </a:xfrm>
          <a:prstGeom prst="rect">
            <a:avLst/>
          </a:prstGeom>
        </p:spPr>
        <p:txBody>
          <a:bodyPr/>
          <a:lstStyle/>
          <a:p>
            <a:endParaRPr lang="en-ZA"/>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1" y="539484"/>
            <a:ext cx="1487819" cy="756078"/>
          </a:xfrm>
          <a:prstGeom prst="rect">
            <a:avLst/>
          </a:prstGeom>
        </p:spPr>
        <p:txBody>
          <a:bodyPr/>
          <a:lstStyle/>
          <a:p>
            <a:fld id="{63953503-5C36-47C3-A3B8-C596E52B1E37}" type="slidenum">
              <a:rPr lang="en-ZA" smtClean="0"/>
              <a:t>‹#›</a:t>
            </a:fld>
            <a:endParaRPr lang="en-ZA"/>
          </a:p>
        </p:txBody>
      </p:sp>
    </p:spTree>
    <p:extLst>
      <p:ext uri="{BB962C8B-B14F-4D97-AF65-F5344CB8AC3E}">
        <p14:creationId xmlns:p14="http://schemas.microsoft.com/office/powerpoint/2010/main" val="327911396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361612" y="6130437"/>
            <a:ext cx="1146283" cy="370396"/>
          </a:xfrm>
          <a:prstGeom prst="rect">
            <a:avLst/>
          </a:prstGeom>
        </p:spPr>
        <p:txBody>
          <a:bodyPr/>
          <a:lstStyle/>
          <a:p>
            <a:fld id="{760B60C4-358D-4AD7-A564-D1348D6B49C5}" type="datetimeFigureOut">
              <a:rPr lang="en-ZA" smtClean="0"/>
              <a:t>2026/05/06</a:t>
            </a:fld>
            <a:endParaRPr lang="en-ZA"/>
          </a:p>
        </p:txBody>
      </p:sp>
      <p:sp>
        <p:nvSpPr>
          <p:cNvPr id="5" name="Footer Placeholder 4"/>
          <p:cNvSpPr>
            <a:spLocks noGrp="1"/>
          </p:cNvSpPr>
          <p:nvPr>
            <p:ph type="ftr" sz="quarter" idx="11"/>
          </p:nvPr>
        </p:nvSpPr>
        <p:spPr>
          <a:xfrm>
            <a:off x="2589212" y="6135808"/>
            <a:ext cx="7619999" cy="365125"/>
          </a:xfrm>
          <a:prstGeom prst="rect">
            <a:avLst/>
          </a:prstGeom>
        </p:spPr>
        <p:txBody>
          <a:bodyPr/>
          <a:lstStyle/>
          <a:p>
            <a:endParaRPr lang="en-ZA"/>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1" y="539484"/>
            <a:ext cx="1487819" cy="756078"/>
          </a:xfrm>
          <a:prstGeom prst="rect">
            <a:avLst/>
          </a:prstGeom>
        </p:spPr>
        <p:txBody>
          <a:bodyPr/>
          <a:lstStyle/>
          <a:p>
            <a:fld id="{63953503-5C36-47C3-A3B8-C596E52B1E37}" type="slidenum">
              <a:rPr lang="en-ZA" smtClean="0"/>
              <a:t>‹#›</a:t>
            </a:fld>
            <a:endParaRPr lang="en-ZA"/>
          </a:p>
        </p:txBody>
      </p:sp>
    </p:spTree>
    <p:extLst>
      <p:ext uri="{BB962C8B-B14F-4D97-AF65-F5344CB8AC3E}">
        <p14:creationId xmlns:p14="http://schemas.microsoft.com/office/powerpoint/2010/main" val="25467662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txBody>
            <a:bodyPr/>
            <a:lstStyle/>
            <a:p>
              <a:endParaRPr lang="en-ZA"/>
            </a:p>
          </p:txBody>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txBody>
            <a:bodyPr/>
            <a:lstStyle/>
            <a:p>
              <a:endParaRPr lang="en-ZA"/>
            </a:p>
          </p:txBody>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txBody>
            <a:bodyPr/>
            <a:lstStyle/>
            <a:p>
              <a:endParaRPr lang="en-ZA"/>
            </a:p>
          </p:txBody>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txBody>
            <a:bodyPr/>
            <a:lstStyle/>
            <a:p>
              <a:endParaRPr lang="en-ZA"/>
            </a:p>
          </p:txBody>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txBody>
            <a:bodyPr/>
            <a:lstStyle/>
            <a:p>
              <a:endParaRPr lang="en-ZA"/>
            </a:p>
          </p:txBody>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txBody>
            <a:bodyPr/>
            <a:lstStyle/>
            <a:p>
              <a:endParaRPr lang="en-ZA"/>
            </a:p>
          </p:txBody>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txBody>
            <a:bodyPr/>
            <a:lstStyle/>
            <a:p>
              <a:endParaRPr lang="en-ZA"/>
            </a:p>
          </p:txBody>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txBody>
            <a:bodyPr/>
            <a:lstStyle/>
            <a:p>
              <a:endParaRPr lang="en-ZA"/>
            </a:p>
          </p:txBody>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txBody>
            <a:bodyPr/>
            <a:lstStyle/>
            <a:p>
              <a:endParaRPr lang="en-ZA"/>
            </a:p>
          </p:txBody>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txBody>
            <a:bodyPr/>
            <a:lstStyle/>
            <a:p>
              <a:endParaRPr lang="en-ZA"/>
            </a:p>
          </p:txBody>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txBody>
            <a:bodyPr/>
            <a:lstStyle/>
            <a:p>
              <a:endParaRPr lang="en-ZA"/>
            </a:p>
          </p:txBody>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txBody>
            <a:bodyPr/>
            <a:lstStyle/>
            <a:p>
              <a:endParaRPr lang="en-ZA"/>
            </a:p>
          </p:txBody>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txBody>
            <a:bodyPr/>
            <a:lstStyle/>
            <a:p>
              <a:endParaRPr lang="en-ZA"/>
            </a:p>
          </p:txBody>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txBody>
            <a:bodyPr/>
            <a:lstStyle/>
            <a:p>
              <a:endParaRPr lang="en-ZA"/>
            </a:p>
          </p:txBody>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txBody>
            <a:bodyPr/>
            <a:lstStyle/>
            <a:p>
              <a:endParaRPr lang="en-ZA"/>
            </a:p>
          </p:txBody>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txBody>
            <a:bodyPr/>
            <a:lstStyle/>
            <a:p>
              <a:endParaRPr lang="en-ZA"/>
            </a:p>
          </p:txBody>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txBody>
            <a:bodyPr/>
            <a:lstStyle/>
            <a:p>
              <a:endParaRPr lang="en-ZA"/>
            </a:p>
          </p:txBody>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txBody>
            <a:bodyPr/>
            <a:lstStyle/>
            <a:p>
              <a:endParaRPr lang="en-ZA"/>
            </a:p>
          </p:txBody>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txBody>
            <a:bodyPr/>
            <a:lstStyle/>
            <a:p>
              <a:endParaRPr lang="en-ZA"/>
            </a:p>
          </p:txBody>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txBody>
            <a:bodyPr/>
            <a:lstStyle/>
            <a:p>
              <a:endParaRPr lang="en-ZA"/>
            </a:p>
          </p:txBody>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txBody>
            <a:bodyPr/>
            <a:lstStyle/>
            <a:p>
              <a:endParaRPr lang="en-ZA"/>
            </a:p>
          </p:txBody>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txBody>
            <a:bodyPr/>
            <a:lstStyle/>
            <a:p>
              <a:endParaRPr lang="en-ZA"/>
            </a:p>
          </p:txBody>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txBody>
            <a:bodyPr/>
            <a:lstStyle/>
            <a:p>
              <a:endParaRPr lang="en-ZA"/>
            </a:p>
          </p:txBody>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txBody>
            <a:bodyPr/>
            <a:lstStyle/>
            <a:p>
              <a:endParaRPr lang="en-ZA"/>
            </a:p>
          </p:txBody>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ZA"/>
          </a:p>
        </p:txBody>
      </p:sp>
      <p:sp>
        <p:nvSpPr>
          <p:cNvPr id="2" name="Title Placeholder 1"/>
          <p:cNvSpPr>
            <a:spLocks noGrp="1"/>
          </p:cNvSpPr>
          <p:nvPr>
            <p:ph type="title"/>
          </p:nvPr>
        </p:nvSpPr>
        <p:spPr>
          <a:xfrm>
            <a:off x="1360678" y="320707"/>
            <a:ext cx="10143934" cy="528797"/>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p:cNvSpPr>
            <a:spLocks noGrp="1"/>
          </p:cNvSpPr>
          <p:nvPr>
            <p:ph type="body" idx="1"/>
          </p:nvPr>
        </p:nvSpPr>
        <p:spPr>
          <a:xfrm>
            <a:off x="1073353" y="1232451"/>
            <a:ext cx="10431259" cy="543074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6" name="Rectangle 35">
            <a:extLst>
              <a:ext uri="{FF2B5EF4-FFF2-40B4-BE49-F238E27FC236}">
                <a16:creationId xmlns:a16="http://schemas.microsoft.com/office/drawing/2014/main" id="{317BCBA9-5D30-CF8E-0E42-BDEA6D4A92B0}"/>
              </a:ext>
            </a:extLst>
          </p:cNvPr>
          <p:cNvSpPr/>
          <p:nvPr userDrawn="1"/>
        </p:nvSpPr>
        <p:spPr>
          <a:xfrm>
            <a:off x="189910" y="0"/>
            <a:ext cx="1163738" cy="6839179"/>
          </a:xfrm>
          <a:prstGeom prst="rect">
            <a:avLst/>
          </a:prstGeom>
          <a:solidFill>
            <a:schemeClr val="accent4">
              <a:lumMod val="60000"/>
              <a:lumOff val="40000"/>
              <a:alpha val="94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Tree>
    <p:extLst>
      <p:ext uri="{BB962C8B-B14F-4D97-AF65-F5344CB8AC3E}">
        <p14:creationId xmlns:p14="http://schemas.microsoft.com/office/powerpoint/2010/main" val="3503049952"/>
      </p:ext>
    </p:extLst>
  </p:cSld>
  <p:clrMap bg1="lt1" tx1="dk1" bg2="lt2" tx2="dk2" accent1="accent1" accent2="accent2" accent3="accent3" accent4="accent4" accent5="accent5" accent6="accent6" hlink="hlink" folHlink="folHlink"/>
  <p:sldLayoutIdLst>
    <p:sldLayoutId id="2147483739" r:id="rId1"/>
    <p:sldLayoutId id="2147483740" r:id="rId2"/>
    <p:sldLayoutId id="2147483741" r:id="rId3"/>
    <p:sldLayoutId id="2147483742" r:id="rId4"/>
    <p:sldLayoutId id="2147483743" r:id="rId5"/>
    <p:sldLayoutId id="2147483744" r:id="rId6"/>
    <p:sldLayoutId id="2147483745" r:id="rId7"/>
    <p:sldLayoutId id="2147483746" r:id="rId8"/>
    <p:sldLayoutId id="2147483747" r:id="rId9"/>
    <p:sldLayoutId id="2147483748" r:id="rId10"/>
    <p:sldLayoutId id="2147483749" r:id="rId11"/>
    <p:sldLayoutId id="2147483750" r:id="rId12"/>
    <p:sldLayoutId id="2147483751" r:id="rId13"/>
    <p:sldLayoutId id="2147483752" r:id="rId14"/>
    <p:sldLayoutId id="2147483753" r:id="rId15"/>
    <p:sldLayoutId id="2147483754"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chart" Target="../charts/chart3.xml"/></Relationships>
</file>

<file path=ppt/slides/_rels/slide5.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chart" Target="../charts/chart8.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a:extLst>
            <a:ext uri="{FF2B5EF4-FFF2-40B4-BE49-F238E27FC236}">
              <a16:creationId xmlns:a16="http://schemas.microsoft.com/office/drawing/2014/main" id="{B949CA6C-F81B-5324-64E1-46060FAE3F4A}"/>
            </a:ext>
          </a:extLst>
        </p:cNvPr>
        <p:cNvGrpSpPr/>
        <p:nvPr/>
      </p:nvGrpSpPr>
      <p:grpSpPr>
        <a:xfrm>
          <a:off x="0" y="0"/>
          <a:ext cx="0" cy="0"/>
          <a:chOff x="0" y="0"/>
          <a:chExt cx="0" cy="0"/>
        </a:xfrm>
      </p:grpSpPr>
      <p:grpSp>
        <p:nvGrpSpPr>
          <p:cNvPr id="1318" name="Group 1317">
            <a:extLst>
              <a:ext uri="{FF2B5EF4-FFF2-40B4-BE49-F238E27FC236}">
                <a16:creationId xmlns:a16="http://schemas.microsoft.com/office/drawing/2014/main" id="{7398C59F-5A18-487B-91D6-B955AACF2E5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 y="228600"/>
            <a:ext cx="2851523" cy="6638625"/>
            <a:chOff x="2487613" y="285750"/>
            <a:chExt cx="2428875" cy="5654676"/>
          </a:xfrm>
        </p:grpSpPr>
        <p:sp>
          <p:nvSpPr>
            <p:cNvPr id="1032" name="Freeform 11">
              <a:extLst>
                <a:ext uri="{FF2B5EF4-FFF2-40B4-BE49-F238E27FC236}">
                  <a16:creationId xmlns:a16="http://schemas.microsoft.com/office/drawing/2014/main" id="{0557FAFE-C7C3-47EC-A4F5-9B21663192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txBody>
            <a:bodyPr/>
            <a:lstStyle/>
            <a:p>
              <a:endParaRPr lang="en-ZA"/>
            </a:p>
          </p:txBody>
        </p:sp>
        <p:sp>
          <p:nvSpPr>
            <p:cNvPr id="1319" name="Freeform 12">
              <a:extLst>
                <a:ext uri="{FF2B5EF4-FFF2-40B4-BE49-F238E27FC236}">
                  <a16:creationId xmlns:a16="http://schemas.microsoft.com/office/drawing/2014/main" id="{95BC28FB-3882-4674-9D79-EA58BEB7CE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txBody>
            <a:bodyPr/>
            <a:lstStyle/>
            <a:p>
              <a:endParaRPr lang="en-ZA"/>
            </a:p>
          </p:txBody>
        </p:sp>
        <p:sp>
          <p:nvSpPr>
            <p:cNvPr id="1034" name="Freeform 13">
              <a:extLst>
                <a:ext uri="{FF2B5EF4-FFF2-40B4-BE49-F238E27FC236}">
                  <a16:creationId xmlns:a16="http://schemas.microsoft.com/office/drawing/2014/main" id="{9C6EC892-83F9-402F-8552-0AD7C0556E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txBody>
            <a:bodyPr/>
            <a:lstStyle/>
            <a:p>
              <a:endParaRPr lang="en-ZA"/>
            </a:p>
          </p:txBody>
        </p:sp>
        <p:sp>
          <p:nvSpPr>
            <p:cNvPr id="1320" name="Freeform 14">
              <a:extLst>
                <a:ext uri="{FF2B5EF4-FFF2-40B4-BE49-F238E27FC236}">
                  <a16:creationId xmlns:a16="http://schemas.microsoft.com/office/drawing/2014/main" id="{18387766-037C-4EF0-8471-D19CBF2A43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txBody>
            <a:bodyPr/>
            <a:lstStyle/>
            <a:p>
              <a:endParaRPr lang="en-ZA"/>
            </a:p>
          </p:txBody>
        </p:sp>
        <p:sp>
          <p:nvSpPr>
            <p:cNvPr id="1036" name="Freeform 15">
              <a:extLst>
                <a:ext uri="{FF2B5EF4-FFF2-40B4-BE49-F238E27FC236}">
                  <a16:creationId xmlns:a16="http://schemas.microsoft.com/office/drawing/2014/main" id="{1E364F38-6F3A-476A-93E6-962EA817C4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txBody>
            <a:bodyPr/>
            <a:lstStyle/>
            <a:p>
              <a:endParaRPr lang="en-ZA"/>
            </a:p>
          </p:txBody>
        </p:sp>
        <p:sp>
          <p:nvSpPr>
            <p:cNvPr id="1037" name="Freeform 16">
              <a:extLst>
                <a:ext uri="{FF2B5EF4-FFF2-40B4-BE49-F238E27FC236}">
                  <a16:creationId xmlns:a16="http://schemas.microsoft.com/office/drawing/2014/main" id="{35C335A4-1E67-4293-8BE2-DFB085D4FB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txBody>
            <a:bodyPr/>
            <a:lstStyle/>
            <a:p>
              <a:endParaRPr lang="en-ZA"/>
            </a:p>
          </p:txBody>
        </p:sp>
        <p:sp>
          <p:nvSpPr>
            <p:cNvPr id="1038" name="Freeform 17">
              <a:extLst>
                <a:ext uri="{FF2B5EF4-FFF2-40B4-BE49-F238E27FC236}">
                  <a16:creationId xmlns:a16="http://schemas.microsoft.com/office/drawing/2014/main" id="{9A8A0F10-2C98-4297-9F92-5D95533927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txBody>
            <a:bodyPr/>
            <a:lstStyle/>
            <a:p>
              <a:endParaRPr lang="en-ZA"/>
            </a:p>
          </p:txBody>
        </p:sp>
        <p:sp>
          <p:nvSpPr>
            <p:cNvPr id="1039" name="Freeform 18">
              <a:extLst>
                <a:ext uri="{FF2B5EF4-FFF2-40B4-BE49-F238E27FC236}">
                  <a16:creationId xmlns:a16="http://schemas.microsoft.com/office/drawing/2014/main" id="{C3B112A3-006E-4008-A778-DB5F6A09D51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txBody>
            <a:bodyPr/>
            <a:lstStyle/>
            <a:p>
              <a:endParaRPr lang="en-ZA"/>
            </a:p>
          </p:txBody>
        </p:sp>
        <p:sp>
          <p:nvSpPr>
            <p:cNvPr id="1040" name="Freeform 19">
              <a:extLst>
                <a:ext uri="{FF2B5EF4-FFF2-40B4-BE49-F238E27FC236}">
                  <a16:creationId xmlns:a16="http://schemas.microsoft.com/office/drawing/2014/main" id="{E5E62767-5C25-4C49-9568-432433A3C5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txBody>
            <a:bodyPr/>
            <a:lstStyle/>
            <a:p>
              <a:endParaRPr lang="en-ZA"/>
            </a:p>
          </p:txBody>
        </p:sp>
        <p:sp>
          <p:nvSpPr>
            <p:cNvPr id="1041" name="Freeform 20">
              <a:extLst>
                <a:ext uri="{FF2B5EF4-FFF2-40B4-BE49-F238E27FC236}">
                  <a16:creationId xmlns:a16="http://schemas.microsoft.com/office/drawing/2014/main" id="{598EC006-77B1-42BA-B815-66CCB9B170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txBody>
            <a:bodyPr/>
            <a:lstStyle/>
            <a:p>
              <a:endParaRPr lang="en-ZA"/>
            </a:p>
          </p:txBody>
        </p:sp>
        <p:sp>
          <p:nvSpPr>
            <p:cNvPr id="1042" name="Freeform 21">
              <a:extLst>
                <a:ext uri="{FF2B5EF4-FFF2-40B4-BE49-F238E27FC236}">
                  <a16:creationId xmlns:a16="http://schemas.microsoft.com/office/drawing/2014/main" id="{A144ED09-DA06-491D-95A8-AB3DED43295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txBody>
            <a:bodyPr/>
            <a:lstStyle/>
            <a:p>
              <a:endParaRPr lang="en-ZA"/>
            </a:p>
          </p:txBody>
        </p:sp>
        <p:sp>
          <p:nvSpPr>
            <p:cNvPr id="1043" name="Freeform 22">
              <a:extLst>
                <a:ext uri="{FF2B5EF4-FFF2-40B4-BE49-F238E27FC236}">
                  <a16:creationId xmlns:a16="http://schemas.microsoft.com/office/drawing/2014/main" id="{1CB00BD2-11CD-4A38-8F38-02B0D1105E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txBody>
            <a:bodyPr/>
            <a:lstStyle/>
            <a:p>
              <a:endParaRPr lang="en-ZA"/>
            </a:p>
          </p:txBody>
        </p:sp>
      </p:grpSp>
      <p:grpSp>
        <p:nvGrpSpPr>
          <p:cNvPr id="1321" name="Group 1320">
            <a:extLst>
              <a:ext uri="{FF2B5EF4-FFF2-40B4-BE49-F238E27FC236}">
                <a16:creationId xmlns:a16="http://schemas.microsoft.com/office/drawing/2014/main" id="{520234FB-542E-4550-9C2F-1B56FD41A1C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7224" y="-786"/>
            <a:ext cx="2356675" cy="6854040"/>
            <a:chOff x="6627813" y="194833"/>
            <a:chExt cx="1952625" cy="5678918"/>
          </a:xfrm>
        </p:grpSpPr>
        <p:sp>
          <p:nvSpPr>
            <p:cNvPr id="1046" name="Freeform 27">
              <a:extLst>
                <a:ext uri="{FF2B5EF4-FFF2-40B4-BE49-F238E27FC236}">
                  <a16:creationId xmlns:a16="http://schemas.microsoft.com/office/drawing/2014/main" id="{41FCE1F3-DEB3-47CD-90FF-7DABB4AF45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txBody>
            <a:bodyPr/>
            <a:lstStyle/>
            <a:p>
              <a:endParaRPr lang="en-ZA"/>
            </a:p>
          </p:txBody>
        </p:sp>
        <p:sp>
          <p:nvSpPr>
            <p:cNvPr id="1047" name="Freeform 28">
              <a:extLst>
                <a:ext uri="{FF2B5EF4-FFF2-40B4-BE49-F238E27FC236}">
                  <a16:creationId xmlns:a16="http://schemas.microsoft.com/office/drawing/2014/main" id="{5708E488-C19B-452C-B197-6F1C34F6E7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txBody>
            <a:bodyPr/>
            <a:lstStyle/>
            <a:p>
              <a:endParaRPr lang="en-ZA"/>
            </a:p>
          </p:txBody>
        </p:sp>
        <p:sp>
          <p:nvSpPr>
            <p:cNvPr id="1048" name="Freeform 29">
              <a:extLst>
                <a:ext uri="{FF2B5EF4-FFF2-40B4-BE49-F238E27FC236}">
                  <a16:creationId xmlns:a16="http://schemas.microsoft.com/office/drawing/2014/main" id="{89D3FD25-890E-4981-A71D-EE796873D7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txBody>
            <a:bodyPr/>
            <a:lstStyle/>
            <a:p>
              <a:endParaRPr lang="en-ZA"/>
            </a:p>
          </p:txBody>
        </p:sp>
        <p:sp>
          <p:nvSpPr>
            <p:cNvPr id="1049" name="Freeform 30">
              <a:extLst>
                <a:ext uri="{FF2B5EF4-FFF2-40B4-BE49-F238E27FC236}">
                  <a16:creationId xmlns:a16="http://schemas.microsoft.com/office/drawing/2014/main" id="{51B5414C-556A-47CB-8EE2-974A85A7A4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txBody>
            <a:bodyPr/>
            <a:lstStyle/>
            <a:p>
              <a:endParaRPr lang="en-ZA"/>
            </a:p>
          </p:txBody>
        </p:sp>
        <p:sp>
          <p:nvSpPr>
            <p:cNvPr id="1050" name="Freeform 31">
              <a:extLst>
                <a:ext uri="{FF2B5EF4-FFF2-40B4-BE49-F238E27FC236}">
                  <a16:creationId xmlns:a16="http://schemas.microsoft.com/office/drawing/2014/main" id="{1C02B20C-2B27-4B75-8AEE-A5D2E2674B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txBody>
            <a:bodyPr/>
            <a:lstStyle/>
            <a:p>
              <a:endParaRPr lang="en-ZA"/>
            </a:p>
          </p:txBody>
        </p:sp>
        <p:sp>
          <p:nvSpPr>
            <p:cNvPr id="1051" name="Freeform 32">
              <a:extLst>
                <a:ext uri="{FF2B5EF4-FFF2-40B4-BE49-F238E27FC236}">
                  <a16:creationId xmlns:a16="http://schemas.microsoft.com/office/drawing/2014/main" id="{54427714-F9AA-4F93-BD1D-400F1EA93F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txBody>
            <a:bodyPr/>
            <a:lstStyle/>
            <a:p>
              <a:endParaRPr lang="en-ZA"/>
            </a:p>
          </p:txBody>
        </p:sp>
        <p:sp>
          <p:nvSpPr>
            <p:cNvPr id="1052" name="Freeform 33">
              <a:extLst>
                <a:ext uri="{FF2B5EF4-FFF2-40B4-BE49-F238E27FC236}">
                  <a16:creationId xmlns:a16="http://schemas.microsoft.com/office/drawing/2014/main" id="{28A77D6A-9E81-497F-ABCC-2695BB5ADD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txBody>
            <a:bodyPr/>
            <a:lstStyle/>
            <a:p>
              <a:endParaRPr lang="en-ZA"/>
            </a:p>
          </p:txBody>
        </p:sp>
        <p:sp>
          <p:nvSpPr>
            <p:cNvPr id="1053" name="Freeform 34">
              <a:extLst>
                <a:ext uri="{FF2B5EF4-FFF2-40B4-BE49-F238E27FC236}">
                  <a16:creationId xmlns:a16="http://schemas.microsoft.com/office/drawing/2014/main" id="{2A1533BA-1478-4F7C-8E24-3F3E905050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txBody>
            <a:bodyPr/>
            <a:lstStyle/>
            <a:p>
              <a:endParaRPr lang="en-ZA"/>
            </a:p>
          </p:txBody>
        </p:sp>
        <p:sp>
          <p:nvSpPr>
            <p:cNvPr id="1054" name="Freeform 35">
              <a:extLst>
                <a:ext uri="{FF2B5EF4-FFF2-40B4-BE49-F238E27FC236}">
                  <a16:creationId xmlns:a16="http://schemas.microsoft.com/office/drawing/2014/main" id="{39686201-E633-40FD-A80A-1E28AD52E3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txBody>
            <a:bodyPr/>
            <a:lstStyle/>
            <a:p>
              <a:endParaRPr lang="en-ZA"/>
            </a:p>
          </p:txBody>
        </p:sp>
        <p:sp>
          <p:nvSpPr>
            <p:cNvPr id="1055" name="Freeform 36">
              <a:extLst>
                <a:ext uri="{FF2B5EF4-FFF2-40B4-BE49-F238E27FC236}">
                  <a16:creationId xmlns:a16="http://schemas.microsoft.com/office/drawing/2014/main" id="{76A215C2-F590-4938-810B-F8A79366CE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txBody>
            <a:bodyPr/>
            <a:lstStyle/>
            <a:p>
              <a:endParaRPr lang="en-ZA"/>
            </a:p>
          </p:txBody>
        </p:sp>
        <p:sp>
          <p:nvSpPr>
            <p:cNvPr id="1056" name="Freeform 37">
              <a:extLst>
                <a:ext uri="{FF2B5EF4-FFF2-40B4-BE49-F238E27FC236}">
                  <a16:creationId xmlns:a16="http://schemas.microsoft.com/office/drawing/2014/main" id="{85F418E7-330D-4002-8EC8-33C1A897FF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txBody>
            <a:bodyPr/>
            <a:lstStyle/>
            <a:p>
              <a:endParaRPr lang="en-ZA"/>
            </a:p>
          </p:txBody>
        </p:sp>
        <p:sp>
          <p:nvSpPr>
            <p:cNvPr id="1057" name="Freeform 38">
              <a:extLst>
                <a:ext uri="{FF2B5EF4-FFF2-40B4-BE49-F238E27FC236}">
                  <a16:creationId xmlns:a16="http://schemas.microsoft.com/office/drawing/2014/main" id="{8FFE669A-54C9-4436-9566-C5A90F16DB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txBody>
            <a:bodyPr/>
            <a:lstStyle/>
            <a:p>
              <a:endParaRPr lang="en-ZA"/>
            </a:p>
          </p:txBody>
        </p:sp>
      </p:grpSp>
      <p:sp>
        <p:nvSpPr>
          <p:cNvPr id="1322" name="Rectangle 1321">
            <a:extLst>
              <a:ext uri="{FF2B5EF4-FFF2-40B4-BE49-F238E27FC236}">
                <a16:creationId xmlns:a16="http://schemas.microsoft.com/office/drawing/2014/main" id="{DE91395A-2D18-4AF6-A0AC-AAA7189FE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ZA"/>
          </a:p>
        </p:txBody>
      </p:sp>
      <p:sp>
        <p:nvSpPr>
          <p:cNvPr id="1323" name="Freeform 11">
            <a:extLst>
              <a:ext uri="{FF2B5EF4-FFF2-40B4-BE49-F238E27FC236}">
                <a16:creationId xmlns:a16="http://schemas.microsoft.com/office/drawing/2014/main" id="{A57352BE-A213-4040-BE8E-D4A925AD9D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ZA"/>
          </a:p>
        </p:txBody>
      </p:sp>
      <p:sp useBgFill="1">
        <p:nvSpPr>
          <p:cNvPr id="1324" name="Rectangle 1323">
            <a:extLst>
              <a:ext uri="{FF2B5EF4-FFF2-40B4-BE49-F238E27FC236}">
                <a16:creationId xmlns:a16="http://schemas.microsoft.com/office/drawing/2014/main" id="{2B258D2B-6AC3-4B3A-A87C-FD7E651782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20" y="-1"/>
            <a:ext cx="1220724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1026" name="Picture 2" descr="AI generated image">
            <a:extLst>
              <a:ext uri="{FF2B5EF4-FFF2-40B4-BE49-F238E27FC236}">
                <a16:creationId xmlns:a16="http://schemas.microsoft.com/office/drawing/2014/main" id="{3735344D-FEBD-2A00-6A3E-B1F1CEE3A71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8872" r="20935" b="1"/>
          <a:stretch>
            <a:fillRect/>
          </a:stretch>
        </p:blipFill>
        <p:spPr bwMode="auto">
          <a:xfrm>
            <a:off x="1" y="10"/>
            <a:ext cx="7574440" cy="6857990"/>
          </a:xfrm>
          <a:prstGeom prst="rect">
            <a:avLst/>
          </a:prstGeom>
          <a:noFill/>
          <a:extLst>
            <a:ext uri="{909E8E84-426E-40DD-AFC4-6F175D3DCCD1}">
              <a14:hiddenFill xmlns:a14="http://schemas.microsoft.com/office/drawing/2010/main">
                <a:solidFill>
                  <a:srgbClr val="FFFFFF"/>
                </a:solidFill>
              </a14:hiddenFill>
            </a:ext>
          </a:extLst>
        </p:spPr>
      </p:pic>
      <p:sp>
        <p:nvSpPr>
          <p:cNvPr id="1325" name="Freeform 5">
            <a:extLst>
              <a:ext uri="{FF2B5EF4-FFF2-40B4-BE49-F238E27FC236}">
                <a16:creationId xmlns:a16="http://schemas.microsoft.com/office/drawing/2014/main" id="{8D55DD8B-9BF9-4B91-A22D-2D3F2AEFF1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a:off x="1" y="659027"/>
            <a:ext cx="9042690" cy="1035152"/>
          </a:xfrm>
          <a:custGeom>
            <a:avLst/>
            <a:gdLst>
              <a:gd name="T0" fmla="*/ 1900 w 1902"/>
              <a:gd name="T1" fmla="*/ 77 h 163"/>
              <a:gd name="T2" fmla="*/ 1826 w 1902"/>
              <a:gd name="T3" fmla="*/ 3 h 163"/>
              <a:gd name="T4" fmla="*/ 1825 w 1902"/>
              <a:gd name="T5" fmla="*/ 2 h 163"/>
              <a:gd name="T6" fmla="*/ 1819 w 1902"/>
              <a:gd name="T7" fmla="*/ 0 h 163"/>
              <a:gd name="T8" fmla="*/ 1363 w 1902"/>
              <a:gd name="T9" fmla="*/ 0 h 163"/>
              <a:gd name="T10" fmla="*/ 1348 w 1902"/>
              <a:gd name="T11" fmla="*/ 0 h 163"/>
              <a:gd name="T12" fmla="*/ 1225 w 1902"/>
              <a:gd name="T13" fmla="*/ 0 h 163"/>
              <a:gd name="T14" fmla="*/ 1033 w 1902"/>
              <a:gd name="T15" fmla="*/ 0 h 163"/>
              <a:gd name="T16" fmla="*/ 892 w 1902"/>
              <a:gd name="T17" fmla="*/ 0 h 163"/>
              <a:gd name="T18" fmla="*/ 786 w 1902"/>
              <a:gd name="T19" fmla="*/ 0 h 163"/>
              <a:gd name="T20" fmla="*/ 577 w 1902"/>
              <a:gd name="T21" fmla="*/ 0 h 163"/>
              <a:gd name="T22" fmla="*/ 562 w 1902"/>
              <a:gd name="T23" fmla="*/ 0 h 163"/>
              <a:gd name="T24" fmla="*/ 439 w 1902"/>
              <a:gd name="T25" fmla="*/ 0 h 163"/>
              <a:gd name="T26" fmla="*/ 106 w 1902"/>
              <a:gd name="T27" fmla="*/ 0 h 163"/>
              <a:gd name="T28" fmla="*/ 0 w 1902"/>
              <a:gd name="T29" fmla="*/ 0 h 163"/>
              <a:gd name="T30" fmla="*/ 0 w 1902"/>
              <a:gd name="T31" fmla="*/ 163 h 163"/>
              <a:gd name="T32" fmla="*/ 106 w 1902"/>
              <a:gd name="T33" fmla="*/ 163 h 163"/>
              <a:gd name="T34" fmla="*/ 439 w 1902"/>
              <a:gd name="T35" fmla="*/ 163 h 163"/>
              <a:gd name="T36" fmla="*/ 562 w 1902"/>
              <a:gd name="T37" fmla="*/ 163 h 163"/>
              <a:gd name="T38" fmla="*/ 577 w 1902"/>
              <a:gd name="T39" fmla="*/ 163 h 163"/>
              <a:gd name="T40" fmla="*/ 786 w 1902"/>
              <a:gd name="T41" fmla="*/ 163 h 163"/>
              <a:gd name="T42" fmla="*/ 892 w 1902"/>
              <a:gd name="T43" fmla="*/ 163 h 163"/>
              <a:gd name="T44" fmla="*/ 1033 w 1902"/>
              <a:gd name="T45" fmla="*/ 163 h 163"/>
              <a:gd name="T46" fmla="*/ 1225 w 1902"/>
              <a:gd name="T47" fmla="*/ 163 h 163"/>
              <a:gd name="T48" fmla="*/ 1348 w 1902"/>
              <a:gd name="T49" fmla="*/ 163 h 163"/>
              <a:gd name="T50" fmla="*/ 1363 w 1902"/>
              <a:gd name="T51" fmla="*/ 163 h 163"/>
              <a:gd name="T52" fmla="*/ 1819 w 1902"/>
              <a:gd name="T53" fmla="*/ 163 h 163"/>
              <a:gd name="T54" fmla="*/ 1825 w 1902"/>
              <a:gd name="T55" fmla="*/ 161 h 163"/>
              <a:gd name="T56" fmla="*/ 1826 w 1902"/>
              <a:gd name="T57" fmla="*/ 160 h 163"/>
              <a:gd name="T58" fmla="*/ 1900 w 1902"/>
              <a:gd name="T59" fmla="*/ 86 h 163"/>
              <a:gd name="T60" fmla="*/ 1900 w 1902"/>
              <a:gd name="T61" fmla="*/ 77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902" h="163">
                <a:moveTo>
                  <a:pt x="1900" y="77"/>
                </a:moveTo>
                <a:cubicBezTo>
                  <a:pt x="1826" y="3"/>
                  <a:pt x="1826" y="3"/>
                  <a:pt x="1826" y="3"/>
                </a:cubicBezTo>
                <a:cubicBezTo>
                  <a:pt x="1825" y="2"/>
                  <a:pt x="1825" y="2"/>
                  <a:pt x="1825" y="2"/>
                </a:cubicBezTo>
                <a:cubicBezTo>
                  <a:pt x="1823" y="1"/>
                  <a:pt x="1821" y="0"/>
                  <a:pt x="1819" y="0"/>
                </a:cubicBezTo>
                <a:cubicBezTo>
                  <a:pt x="1363" y="0"/>
                  <a:pt x="1363" y="0"/>
                  <a:pt x="1363" y="0"/>
                </a:cubicBezTo>
                <a:cubicBezTo>
                  <a:pt x="1348" y="0"/>
                  <a:pt x="1348" y="0"/>
                  <a:pt x="1348" y="0"/>
                </a:cubicBezTo>
                <a:cubicBezTo>
                  <a:pt x="1225" y="0"/>
                  <a:pt x="1225" y="0"/>
                  <a:pt x="1225" y="0"/>
                </a:cubicBezTo>
                <a:cubicBezTo>
                  <a:pt x="1033" y="0"/>
                  <a:pt x="1033" y="0"/>
                  <a:pt x="1033" y="0"/>
                </a:cubicBezTo>
                <a:cubicBezTo>
                  <a:pt x="892" y="0"/>
                  <a:pt x="892" y="0"/>
                  <a:pt x="892" y="0"/>
                </a:cubicBezTo>
                <a:cubicBezTo>
                  <a:pt x="786" y="0"/>
                  <a:pt x="786" y="0"/>
                  <a:pt x="786" y="0"/>
                </a:cubicBezTo>
                <a:cubicBezTo>
                  <a:pt x="577" y="0"/>
                  <a:pt x="577" y="0"/>
                  <a:pt x="577" y="0"/>
                </a:cubicBezTo>
                <a:cubicBezTo>
                  <a:pt x="562" y="0"/>
                  <a:pt x="562" y="0"/>
                  <a:pt x="562" y="0"/>
                </a:cubicBezTo>
                <a:cubicBezTo>
                  <a:pt x="439" y="0"/>
                  <a:pt x="439" y="0"/>
                  <a:pt x="439" y="0"/>
                </a:cubicBezTo>
                <a:cubicBezTo>
                  <a:pt x="106" y="0"/>
                  <a:pt x="106" y="0"/>
                  <a:pt x="106" y="0"/>
                </a:cubicBezTo>
                <a:cubicBezTo>
                  <a:pt x="0" y="0"/>
                  <a:pt x="0" y="0"/>
                  <a:pt x="0" y="0"/>
                </a:cubicBezTo>
                <a:cubicBezTo>
                  <a:pt x="0" y="163"/>
                  <a:pt x="0" y="163"/>
                  <a:pt x="0" y="163"/>
                </a:cubicBezTo>
                <a:cubicBezTo>
                  <a:pt x="106" y="163"/>
                  <a:pt x="106" y="163"/>
                  <a:pt x="106" y="163"/>
                </a:cubicBezTo>
                <a:cubicBezTo>
                  <a:pt x="439" y="163"/>
                  <a:pt x="439" y="163"/>
                  <a:pt x="439" y="163"/>
                </a:cubicBezTo>
                <a:cubicBezTo>
                  <a:pt x="562" y="163"/>
                  <a:pt x="562" y="163"/>
                  <a:pt x="562" y="163"/>
                </a:cubicBezTo>
                <a:cubicBezTo>
                  <a:pt x="577" y="163"/>
                  <a:pt x="577" y="163"/>
                  <a:pt x="577" y="163"/>
                </a:cubicBezTo>
                <a:cubicBezTo>
                  <a:pt x="786" y="163"/>
                  <a:pt x="786" y="163"/>
                  <a:pt x="786" y="163"/>
                </a:cubicBezTo>
                <a:cubicBezTo>
                  <a:pt x="892" y="163"/>
                  <a:pt x="892" y="163"/>
                  <a:pt x="892" y="163"/>
                </a:cubicBezTo>
                <a:cubicBezTo>
                  <a:pt x="1033" y="163"/>
                  <a:pt x="1033" y="163"/>
                  <a:pt x="1033" y="163"/>
                </a:cubicBezTo>
                <a:cubicBezTo>
                  <a:pt x="1225" y="163"/>
                  <a:pt x="1225" y="163"/>
                  <a:pt x="1225" y="163"/>
                </a:cubicBezTo>
                <a:cubicBezTo>
                  <a:pt x="1348" y="163"/>
                  <a:pt x="1348" y="163"/>
                  <a:pt x="1348" y="163"/>
                </a:cubicBezTo>
                <a:cubicBezTo>
                  <a:pt x="1363" y="163"/>
                  <a:pt x="1363" y="163"/>
                  <a:pt x="1363" y="163"/>
                </a:cubicBezTo>
                <a:cubicBezTo>
                  <a:pt x="1819" y="163"/>
                  <a:pt x="1819" y="163"/>
                  <a:pt x="1819" y="163"/>
                </a:cubicBezTo>
                <a:cubicBezTo>
                  <a:pt x="1821" y="163"/>
                  <a:pt x="1823" y="162"/>
                  <a:pt x="1825" y="161"/>
                </a:cubicBezTo>
                <a:cubicBezTo>
                  <a:pt x="1825" y="160"/>
                  <a:pt x="1825" y="160"/>
                  <a:pt x="1826" y="160"/>
                </a:cubicBezTo>
                <a:cubicBezTo>
                  <a:pt x="1900" y="86"/>
                  <a:pt x="1900" y="86"/>
                  <a:pt x="1900" y="86"/>
                </a:cubicBezTo>
                <a:cubicBezTo>
                  <a:pt x="1902" y="83"/>
                  <a:pt x="1902" y="79"/>
                  <a:pt x="1900" y="77"/>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7" name="TextBox 6">
            <a:extLst>
              <a:ext uri="{FF2B5EF4-FFF2-40B4-BE49-F238E27FC236}">
                <a16:creationId xmlns:a16="http://schemas.microsoft.com/office/drawing/2014/main" id="{4DF0BD0E-DAA0-80CD-D395-C157668B98F4}"/>
              </a:ext>
            </a:extLst>
          </p:cNvPr>
          <p:cNvSpPr txBox="1"/>
          <p:nvPr/>
        </p:nvSpPr>
        <p:spPr>
          <a:xfrm>
            <a:off x="541867" y="787400"/>
            <a:ext cx="7145866" cy="778933"/>
          </a:xfrm>
          <a:prstGeom prst="rect">
            <a:avLst/>
          </a:prstGeom>
        </p:spPr>
        <p:txBody>
          <a:bodyPr vert="horz" lIns="91440" tIns="45720" rIns="91440" bIns="45720" rtlCol="0" anchor="ctr">
            <a:normAutofit/>
          </a:bodyPr>
          <a:lstStyle/>
          <a:p>
            <a:pPr marL="0" marR="0" lvl="0" indent="0" fontAlgn="base">
              <a:lnSpc>
                <a:spcPct val="90000"/>
              </a:lnSpc>
              <a:spcBef>
                <a:spcPct val="0"/>
              </a:spcBef>
              <a:spcAft>
                <a:spcPts val="600"/>
              </a:spcAft>
              <a:buClrTx/>
              <a:buSzTx/>
              <a:tabLst/>
              <a:defRPr/>
            </a:pPr>
            <a:r>
              <a:rPr kumimoji="0" lang="en-US" altLang="en-US" sz="2500" b="1" i="0" u="none" strike="noStrike" cap="none" spc="0" normalizeH="0" baseline="0" noProof="0">
                <a:ln>
                  <a:noFill/>
                </a:ln>
                <a:solidFill>
                  <a:srgbClr val="FEFFFF"/>
                </a:solidFill>
                <a:effectLst/>
                <a:uLnTx/>
                <a:uFillTx/>
                <a:latin typeface="+mj-lt"/>
                <a:ea typeface="+mj-ea"/>
                <a:cs typeface="+mj-cs"/>
              </a:rPr>
              <a:t>Data-Driven Growth Strategy: 2026 Sales &amp; Inventory Analysis</a:t>
            </a:r>
          </a:p>
        </p:txBody>
      </p:sp>
      <p:sp>
        <p:nvSpPr>
          <p:cNvPr id="3" name="Subtitle 2">
            <a:extLst>
              <a:ext uri="{FF2B5EF4-FFF2-40B4-BE49-F238E27FC236}">
                <a16:creationId xmlns:a16="http://schemas.microsoft.com/office/drawing/2014/main" id="{94EE9FB8-7E16-193F-722B-801A5F98B304}"/>
              </a:ext>
            </a:extLst>
          </p:cNvPr>
          <p:cNvSpPr>
            <a:spLocks noGrp="1"/>
          </p:cNvSpPr>
          <p:nvPr>
            <p:ph type="subTitle" idx="1"/>
          </p:nvPr>
        </p:nvSpPr>
        <p:spPr>
          <a:xfrm>
            <a:off x="7860770" y="2017668"/>
            <a:ext cx="3750205" cy="3857816"/>
          </a:xfrm>
        </p:spPr>
        <p:txBody>
          <a:bodyPr vert="horz" lIns="91440" tIns="45720" rIns="91440" bIns="45720" rtlCol="0">
            <a:normAutofit/>
          </a:bodyPr>
          <a:lstStyle/>
          <a:p>
            <a:pPr>
              <a:buFont typeface="Wingdings 3" charset="2"/>
              <a:buChar char=""/>
            </a:pPr>
            <a:r>
              <a:rPr lang="en-US" b="1" dirty="0">
                <a:solidFill>
                  <a:schemeClr val="tx1">
                    <a:lumMod val="95000"/>
                    <a:lumOff val="5000"/>
                  </a:schemeClr>
                </a:solidFill>
              </a:rPr>
              <a:t>Bright Motors Sales Analysis</a:t>
            </a:r>
          </a:p>
          <a:p>
            <a:pPr>
              <a:buFont typeface="Wingdings 3" charset="2"/>
              <a:buChar char=""/>
            </a:pPr>
            <a:endParaRPr lang="en-US" dirty="0">
              <a:solidFill>
                <a:schemeClr val="tx1">
                  <a:lumMod val="95000"/>
                  <a:lumOff val="5000"/>
                </a:schemeClr>
              </a:solidFill>
            </a:endParaRPr>
          </a:p>
          <a:p>
            <a:pPr algn="ctr">
              <a:buFont typeface="Wingdings 3" charset="2"/>
              <a:buChar char=""/>
            </a:pPr>
            <a:r>
              <a:rPr lang="en-US" altLang="en-US" b="1" dirty="0">
                <a:solidFill>
                  <a:schemeClr val="tx1">
                    <a:lumMod val="95000"/>
                    <a:lumOff val="5000"/>
                  </a:schemeClr>
                </a:solidFill>
              </a:rPr>
              <a:t>Strategic Recommendations for Bright Motors Dealership Network</a:t>
            </a:r>
            <a:endParaRPr lang="en-US" b="1" dirty="0">
              <a:solidFill>
                <a:schemeClr val="tx1">
                  <a:lumMod val="95000"/>
                  <a:lumOff val="5000"/>
                </a:schemeClr>
              </a:solidFill>
            </a:endParaRPr>
          </a:p>
          <a:p>
            <a:pPr>
              <a:buFont typeface="Wingdings 3" charset="2"/>
              <a:buChar char=""/>
            </a:pPr>
            <a:endParaRPr lang="en-US" dirty="0">
              <a:solidFill>
                <a:schemeClr val="tx1">
                  <a:lumMod val="95000"/>
                  <a:lumOff val="5000"/>
                </a:schemeClr>
              </a:solidFill>
            </a:endParaRPr>
          </a:p>
          <a:p>
            <a:pPr algn="ctr"/>
            <a:r>
              <a:rPr lang="en-US" sz="1200" i="1" dirty="0"/>
              <a:t>Turning historical data into a roadmap for future profitability.“</a:t>
            </a:r>
          </a:p>
          <a:p>
            <a:pPr>
              <a:buFont typeface="Wingdings 3" charset="2"/>
              <a:buChar char=""/>
            </a:pPr>
            <a:endParaRPr lang="en-US" dirty="0">
              <a:solidFill>
                <a:schemeClr val="tx1">
                  <a:lumMod val="95000"/>
                  <a:lumOff val="5000"/>
                </a:schemeClr>
              </a:solidFill>
            </a:endParaRPr>
          </a:p>
          <a:p>
            <a:pPr>
              <a:buFont typeface="Wingdings 3" charset="2"/>
              <a:buChar char=""/>
            </a:pPr>
            <a:r>
              <a:rPr lang="en-US" dirty="0">
                <a:solidFill>
                  <a:schemeClr val="tx1">
                    <a:lumMod val="95000"/>
                    <a:lumOff val="5000"/>
                  </a:schemeClr>
                </a:solidFill>
              </a:rPr>
              <a:t>By Kometsi Khotlele</a:t>
            </a:r>
          </a:p>
          <a:p>
            <a:pPr>
              <a:buFont typeface="Wingdings 3" charset="2"/>
              <a:buChar char=""/>
            </a:pPr>
            <a:endParaRPr lang="en-US" dirty="0">
              <a:solidFill>
                <a:schemeClr val="tx1">
                  <a:lumMod val="95000"/>
                  <a:lumOff val="5000"/>
                </a:schemeClr>
              </a:solidFill>
            </a:endParaRPr>
          </a:p>
        </p:txBody>
      </p:sp>
      <p:pic>
        <p:nvPicPr>
          <p:cNvPr id="5" name="Picture 4">
            <a:extLst>
              <a:ext uri="{FF2B5EF4-FFF2-40B4-BE49-F238E27FC236}">
                <a16:creationId xmlns:a16="http://schemas.microsoft.com/office/drawing/2014/main" id="{06B43C6B-51B2-D63B-6833-D07318172CD2}"/>
              </a:ext>
            </a:extLst>
          </p:cNvPr>
          <p:cNvPicPr>
            <a:picLocks noChangeAspect="1"/>
          </p:cNvPicPr>
          <p:nvPr/>
        </p:nvPicPr>
        <p:blipFill>
          <a:blip r:embed="rId3"/>
          <a:stretch>
            <a:fillRect/>
          </a:stretch>
        </p:blipFill>
        <p:spPr>
          <a:xfrm>
            <a:off x="10896600" y="32860"/>
            <a:ext cx="1166812" cy="1135541"/>
          </a:xfrm>
          <a:prstGeom prst="rect">
            <a:avLst/>
          </a:prstGeom>
        </p:spPr>
      </p:pic>
      <p:sp>
        <p:nvSpPr>
          <p:cNvPr id="4" name="TextBox 3">
            <a:extLst>
              <a:ext uri="{FF2B5EF4-FFF2-40B4-BE49-F238E27FC236}">
                <a16:creationId xmlns:a16="http://schemas.microsoft.com/office/drawing/2014/main" id="{F7A4BD32-A44E-F163-B8DD-3CD08AF02FC4}"/>
              </a:ext>
            </a:extLst>
          </p:cNvPr>
          <p:cNvSpPr txBox="1"/>
          <p:nvPr/>
        </p:nvSpPr>
        <p:spPr>
          <a:xfrm>
            <a:off x="3280793" y="2492594"/>
            <a:ext cx="2145330" cy="2407549"/>
          </a:xfrm>
          <a:prstGeom prst="rect">
            <a:avLst/>
          </a:prstGeom>
          <a:noFill/>
        </p:spPr>
        <p:txBody>
          <a:bodyPr wrap="square" rtlCol="0">
            <a:spAutoFit/>
          </a:bodyPr>
          <a:lstStyle/>
          <a:p>
            <a:endParaRPr lang="en-ZA" dirty="0"/>
          </a:p>
        </p:txBody>
      </p:sp>
    </p:spTree>
    <p:extLst>
      <p:ext uri="{BB962C8B-B14F-4D97-AF65-F5344CB8AC3E}">
        <p14:creationId xmlns:p14="http://schemas.microsoft.com/office/powerpoint/2010/main" val="36534872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1FF0B8-D778-BFAA-6146-13CE0304BB4F}"/>
              </a:ext>
            </a:extLst>
          </p:cNvPr>
          <p:cNvSpPr>
            <a:spLocks noGrp="1"/>
          </p:cNvSpPr>
          <p:nvPr>
            <p:ph type="ctrTitle"/>
          </p:nvPr>
        </p:nvSpPr>
        <p:spPr>
          <a:xfrm>
            <a:off x="1342417" y="32861"/>
            <a:ext cx="9554183" cy="627539"/>
          </a:xfrm>
        </p:spPr>
        <p:txBody>
          <a:bodyPr>
            <a:normAutofit fontScale="90000"/>
          </a:bodyPr>
          <a:lstStyle/>
          <a:p>
            <a:r>
              <a:rPr lang="en-US" sz="4400" dirty="0"/>
              <a:t>Executive Summary</a:t>
            </a:r>
            <a:endParaRPr lang="en-ZA" sz="4400" dirty="0"/>
          </a:p>
        </p:txBody>
      </p:sp>
      <p:pic>
        <p:nvPicPr>
          <p:cNvPr id="5" name="Picture 4">
            <a:extLst>
              <a:ext uri="{FF2B5EF4-FFF2-40B4-BE49-F238E27FC236}">
                <a16:creationId xmlns:a16="http://schemas.microsoft.com/office/drawing/2014/main" id="{6529805C-B11C-B94A-149D-9A1B1F8989C7}"/>
              </a:ext>
            </a:extLst>
          </p:cNvPr>
          <p:cNvPicPr>
            <a:picLocks noChangeAspect="1"/>
          </p:cNvPicPr>
          <p:nvPr/>
        </p:nvPicPr>
        <p:blipFill>
          <a:blip r:embed="rId2"/>
          <a:stretch>
            <a:fillRect/>
          </a:stretch>
        </p:blipFill>
        <p:spPr>
          <a:xfrm>
            <a:off x="10896600" y="32860"/>
            <a:ext cx="1166812" cy="1135541"/>
          </a:xfrm>
          <a:prstGeom prst="rect">
            <a:avLst/>
          </a:prstGeom>
        </p:spPr>
      </p:pic>
      <p:sp>
        <p:nvSpPr>
          <p:cNvPr id="6" name="Rectangle 1">
            <a:extLst>
              <a:ext uri="{FF2B5EF4-FFF2-40B4-BE49-F238E27FC236}">
                <a16:creationId xmlns:a16="http://schemas.microsoft.com/office/drawing/2014/main" id="{99892FE1-F0ED-499B-433D-517617377D92}"/>
              </a:ext>
            </a:extLst>
          </p:cNvPr>
          <p:cNvSpPr>
            <a:spLocks noGrp="1" noChangeArrowheads="1"/>
          </p:cNvSpPr>
          <p:nvPr>
            <p:ph type="subTitle" idx="1"/>
          </p:nvPr>
        </p:nvSpPr>
        <p:spPr bwMode="auto">
          <a:xfrm>
            <a:off x="1342418" y="1311417"/>
            <a:ext cx="10366982" cy="52527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dirty="0"/>
              <a:t>The Goal: Optimize, Expand, and Outperform</a:t>
            </a:r>
          </a:p>
          <a:p>
            <a:r>
              <a:rPr lang="en-US" b="1" dirty="0"/>
              <a:t>Objective:</a:t>
            </a:r>
            <a:r>
              <a:rPr lang="en-US" dirty="0"/>
              <a:t> Analyze historical sales to identify:-</a:t>
            </a:r>
          </a:p>
          <a:p>
            <a:r>
              <a:rPr lang="en-US" dirty="0"/>
              <a:t>					- high-margin inventory</a:t>
            </a:r>
          </a:p>
          <a:p>
            <a:r>
              <a:rPr lang="en-US" dirty="0"/>
              <a:t>					-top selling states</a:t>
            </a:r>
          </a:p>
          <a:p>
            <a:r>
              <a:rPr lang="en-US" dirty="0"/>
              <a:t>					-Profitability </a:t>
            </a:r>
          </a:p>
          <a:p>
            <a:r>
              <a:rPr lang="en-US" dirty="0"/>
              <a:t>Lastly to chart a strategy to improve performance across all areas of the business, in particular the financial performance.</a:t>
            </a:r>
          </a:p>
          <a:p>
            <a:r>
              <a:rPr lang="en-US" b="1" dirty="0"/>
              <a:t>Methodology:</a:t>
            </a:r>
            <a:r>
              <a:rPr lang="en-US" dirty="0"/>
              <a:t> Processed 79MB of transaction data  with over  155k rows of data via Google Big Query.</a:t>
            </a:r>
          </a:p>
          <a:p>
            <a:r>
              <a:rPr lang="en-US" b="1" dirty="0"/>
              <a:t>Scope:</a:t>
            </a:r>
            <a:r>
              <a:rPr lang="en-US" dirty="0"/>
              <a:t> Focus on revenue drivers, depreciation curves, and regional demand.</a:t>
            </a:r>
          </a:p>
          <a:p>
            <a:endParaRPr lang="en-US" i="1" dirty="0"/>
          </a:p>
          <a:p>
            <a:endParaRPr lang="en-US" i="1" dirty="0"/>
          </a:p>
          <a:p>
            <a:endParaRPr lang="en-US" dirty="0"/>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7480022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53F522-167C-4C9E-897E-44EF4DC88A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D8D6E7-64C0-0CB4-12C7-CA7DF8440BD5}"/>
              </a:ext>
            </a:extLst>
          </p:cNvPr>
          <p:cNvSpPr>
            <a:spLocks noGrp="1"/>
          </p:cNvSpPr>
          <p:nvPr>
            <p:ph type="ctrTitle"/>
          </p:nvPr>
        </p:nvSpPr>
        <p:spPr>
          <a:xfrm>
            <a:off x="1342418" y="758616"/>
            <a:ext cx="4973716" cy="593530"/>
          </a:xfrm>
        </p:spPr>
        <p:txBody>
          <a:bodyPr>
            <a:noAutofit/>
          </a:bodyPr>
          <a:lstStyle/>
          <a:p>
            <a:br>
              <a:rPr lang="en-US" sz="3600" dirty="0"/>
            </a:br>
            <a:br>
              <a:rPr lang="en-US" sz="3600" dirty="0"/>
            </a:br>
            <a:br>
              <a:rPr lang="en-US" sz="3600" dirty="0"/>
            </a:br>
            <a:br>
              <a:rPr lang="en-US" sz="3600" dirty="0"/>
            </a:br>
            <a:br>
              <a:rPr lang="en-US" sz="3600" dirty="0"/>
            </a:br>
            <a:br>
              <a:rPr lang="en-US" sz="3600" dirty="0"/>
            </a:br>
            <a:br>
              <a:rPr lang="en-US" sz="3600" dirty="0"/>
            </a:br>
            <a:br>
              <a:rPr lang="en-US" sz="3600" dirty="0"/>
            </a:br>
            <a:br>
              <a:rPr lang="en-US" sz="3600" dirty="0"/>
            </a:br>
            <a:br>
              <a:rPr lang="en-US" sz="3600" dirty="0"/>
            </a:br>
            <a:br>
              <a:rPr lang="en-US" sz="3600" dirty="0"/>
            </a:br>
            <a:r>
              <a:rPr lang="en-US" sz="3600" dirty="0"/>
              <a:t>Vehicle condition</a:t>
            </a:r>
            <a:br>
              <a:rPr lang="en-US" sz="3600" dirty="0"/>
            </a:br>
            <a:endParaRPr lang="en-ZA" sz="3600" dirty="0"/>
          </a:p>
        </p:txBody>
      </p:sp>
      <p:sp>
        <p:nvSpPr>
          <p:cNvPr id="3" name="Subtitle 2">
            <a:extLst>
              <a:ext uri="{FF2B5EF4-FFF2-40B4-BE49-F238E27FC236}">
                <a16:creationId xmlns:a16="http://schemas.microsoft.com/office/drawing/2014/main" id="{E39EFBF6-488A-CDA5-D74D-4EC2D36E14E8}"/>
              </a:ext>
            </a:extLst>
          </p:cNvPr>
          <p:cNvSpPr>
            <a:spLocks noGrp="1"/>
          </p:cNvSpPr>
          <p:nvPr>
            <p:ph type="subTitle" idx="1"/>
          </p:nvPr>
        </p:nvSpPr>
        <p:spPr>
          <a:xfrm>
            <a:off x="1456267" y="1168401"/>
            <a:ext cx="4639733" cy="5418666"/>
          </a:xfrm>
        </p:spPr>
        <p:txBody>
          <a:bodyPr>
            <a:normAutofit/>
          </a:bodyPr>
          <a:lstStyle/>
          <a:p>
            <a:r>
              <a:rPr lang="en-US" sz="1600" dirty="0"/>
              <a:t>Excellent vehicles are mainly in the top 3 destinations being Colorado, Georgia and </a:t>
            </a:r>
            <a:r>
              <a:rPr lang="en-US" sz="1600" dirty="0" err="1"/>
              <a:t>Pennyslavia</a:t>
            </a:r>
            <a:r>
              <a:rPr lang="en-US" sz="1600" dirty="0"/>
              <a:t>. </a:t>
            </a:r>
          </a:p>
          <a:p>
            <a:endParaRPr lang="en-US" sz="1600" dirty="0"/>
          </a:p>
          <a:p>
            <a:r>
              <a:rPr lang="en-US" sz="1600" dirty="0"/>
              <a:t>Generally the condition of the vehicles remains good to excellent.</a:t>
            </a:r>
          </a:p>
          <a:p>
            <a:endParaRPr lang="en-US" sz="1600" dirty="0"/>
          </a:p>
          <a:p>
            <a:r>
              <a:rPr lang="en-US" sz="1600" dirty="0"/>
              <a:t>A minor portion of these vehicle are in poor state, condition</a:t>
            </a:r>
            <a:endParaRPr lang="en-ZA" sz="1600" dirty="0"/>
          </a:p>
        </p:txBody>
      </p:sp>
      <p:pic>
        <p:nvPicPr>
          <p:cNvPr id="5" name="Picture 4">
            <a:extLst>
              <a:ext uri="{FF2B5EF4-FFF2-40B4-BE49-F238E27FC236}">
                <a16:creationId xmlns:a16="http://schemas.microsoft.com/office/drawing/2014/main" id="{B3EC88B4-9ED7-708E-1BEC-9269A5B4770A}"/>
              </a:ext>
            </a:extLst>
          </p:cNvPr>
          <p:cNvPicPr>
            <a:picLocks noChangeAspect="1"/>
          </p:cNvPicPr>
          <p:nvPr/>
        </p:nvPicPr>
        <p:blipFill>
          <a:blip r:embed="rId2"/>
          <a:stretch>
            <a:fillRect/>
          </a:stretch>
        </p:blipFill>
        <p:spPr>
          <a:xfrm>
            <a:off x="10896600" y="32860"/>
            <a:ext cx="1166812" cy="1135541"/>
          </a:xfrm>
          <a:prstGeom prst="rect">
            <a:avLst/>
          </a:prstGeom>
        </p:spPr>
      </p:pic>
      <p:graphicFrame>
        <p:nvGraphicFramePr>
          <p:cNvPr id="4" name="Chart 3">
            <a:extLst>
              <a:ext uri="{FF2B5EF4-FFF2-40B4-BE49-F238E27FC236}">
                <a16:creationId xmlns:a16="http://schemas.microsoft.com/office/drawing/2014/main" id="{09B3FC63-9A62-923C-F8A4-A5D948FADB8E}"/>
              </a:ext>
            </a:extLst>
          </p:cNvPr>
          <p:cNvGraphicFramePr>
            <a:graphicFrameLocks/>
          </p:cNvGraphicFramePr>
          <p:nvPr>
            <p:extLst>
              <p:ext uri="{D42A27DB-BD31-4B8C-83A1-F6EECF244321}">
                <p14:modId xmlns:p14="http://schemas.microsoft.com/office/powerpoint/2010/main" val="1948527076"/>
              </p:ext>
            </p:extLst>
          </p:nvPr>
        </p:nvGraphicFramePr>
        <p:xfrm>
          <a:off x="6316133" y="1168401"/>
          <a:ext cx="5875866" cy="4605866"/>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4427018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07D6E2-8B4B-40CD-1EA6-6E0998B81A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9B3C04-3EDD-7188-16B8-FB7AA377F80C}"/>
              </a:ext>
            </a:extLst>
          </p:cNvPr>
          <p:cNvSpPr>
            <a:spLocks noGrp="1"/>
          </p:cNvSpPr>
          <p:nvPr>
            <p:ph type="ctrTitle"/>
          </p:nvPr>
        </p:nvSpPr>
        <p:spPr>
          <a:xfrm>
            <a:off x="1260542" y="368808"/>
            <a:ext cx="6268667" cy="963882"/>
          </a:xfrm>
        </p:spPr>
        <p:txBody>
          <a:bodyPr>
            <a:noAutofit/>
          </a:bodyPr>
          <a:lstStyle/>
          <a:p>
            <a:br>
              <a:rPr lang="en-US" sz="4000" dirty="0"/>
            </a:br>
            <a:br>
              <a:rPr lang="en-US" sz="4000" dirty="0"/>
            </a:br>
            <a:br>
              <a:rPr lang="en-US" sz="4000" dirty="0"/>
            </a:br>
            <a:br>
              <a:rPr lang="en-US" sz="4000" dirty="0"/>
            </a:br>
            <a:br>
              <a:rPr lang="en-US" sz="4000" dirty="0"/>
            </a:br>
            <a:br>
              <a:rPr lang="en-US" sz="4000" dirty="0"/>
            </a:br>
            <a:br>
              <a:rPr lang="en-US" sz="4000" dirty="0"/>
            </a:br>
            <a:br>
              <a:rPr lang="en-US" sz="4000" dirty="0"/>
            </a:br>
            <a:br>
              <a:rPr lang="en-US" sz="4000" dirty="0"/>
            </a:br>
            <a:br>
              <a:rPr lang="en-US" sz="4000" dirty="0"/>
            </a:br>
            <a:br>
              <a:rPr lang="en-US" sz="4000" dirty="0"/>
            </a:br>
            <a:r>
              <a:rPr lang="en-US" sz="4000" dirty="0"/>
              <a:t>Mile age distribution </a:t>
            </a:r>
            <a:br>
              <a:rPr lang="en-US" sz="4000" dirty="0"/>
            </a:br>
            <a:endParaRPr lang="en-ZA" sz="4000" dirty="0"/>
          </a:p>
        </p:txBody>
      </p:sp>
      <p:sp>
        <p:nvSpPr>
          <p:cNvPr id="3" name="Subtitle 2">
            <a:extLst>
              <a:ext uri="{FF2B5EF4-FFF2-40B4-BE49-F238E27FC236}">
                <a16:creationId xmlns:a16="http://schemas.microsoft.com/office/drawing/2014/main" id="{6D0E804C-FC24-A503-CD8F-AD4ECB07A332}"/>
              </a:ext>
            </a:extLst>
          </p:cNvPr>
          <p:cNvSpPr>
            <a:spLocks noGrp="1"/>
          </p:cNvSpPr>
          <p:nvPr>
            <p:ph type="subTitle" idx="1"/>
          </p:nvPr>
        </p:nvSpPr>
        <p:spPr>
          <a:xfrm>
            <a:off x="1372356" y="841670"/>
            <a:ext cx="9134777" cy="847853"/>
          </a:xfrm>
        </p:spPr>
        <p:txBody>
          <a:bodyPr>
            <a:normAutofit/>
          </a:bodyPr>
          <a:lstStyle/>
          <a:p>
            <a:r>
              <a:rPr lang="en-US" dirty="0"/>
              <a:t>The mile age is high across all the states in comparison to the MMR value.  The vehicles are selling minimally at breakeven of the MMR value.</a:t>
            </a:r>
          </a:p>
        </p:txBody>
      </p:sp>
      <p:pic>
        <p:nvPicPr>
          <p:cNvPr id="5" name="Picture 4">
            <a:extLst>
              <a:ext uri="{FF2B5EF4-FFF2-40B4-BE49-F238E27FC236}">
                <a16:creationId xmlns:a16="http://schemas.microsoft.com/office/drawing/2014/main" id="{115EEFDB-A7B4-E785-6060-AAD38304F4CA}"/>
              </a:ext>
            </a:extLst>
          </p:cNvPr>
          <p:cNvPicPr>
            <a:picLocks noChangeAspect="1"/>
          </p:cNvPicPr>
          <p:nvPr/>
        </p:nvPicPr>
        <p:blipFill>
          <a:blip r:embed="rId2"/>
          <a:stretch>
            <a:fillRect/>
          </a:stretch>
        </p:blipFill>
        <p:spPr>
          <a:xfrm>
            <a:off x="10896600" y="32860"/>
            <a:ext cx="1166812" cy="1135541"/>
          </a:xfrm>
          <a:prstGeom prst="rect">
            <a:avLst/>
          </a:prstGeom>
        </p:spPr>
      </p:pic>
      <p:graphicFrame>
        <p:nvGraphicFramePr>
          <p:cNvPr id="4" name="Chart 3">
            <a:extLst>
              <a:ext uri="{FF2B5EF4-FFF2-40B4-BE49-F238E27FC236}">
                <a16:creationId xmlns:a16="http://schemas.microsoft.com/office/drawing/2014/main" id="{2C4AD9E5-8144-42A5-8726-BF162DB3FDF2}"/>
              </a:ext>
            </a:extLst>
          </p:cNvPr>
          <p:cNvGraphicFramePr>
            <a:graphicFrameLocks/>
          </p:cNvGraphicFramePr>
          <p:nvPr>
            <p:extLst>
              <p:ext uri="{D42A27DB-BD31-4B8C-83A1-F6EECF244321}">
                <p14:modId xmlns:p14="http://schemas.microsoft.com/office/powerpoint/2010/main" val="784869986"/>
              </p:ext>
            </p:extLst>
          </p:nvPr>
        </p:nvGraphicFramePr>
        <p:xfrm>
          <a:off x="6592186" y="1805552"/>
          <a:ext cx="5284382" cy="4511388"/>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 name="Chart 5">
            <a:extLst>
              <a:ext uri="{FF2B5EF4-FFF2-40B4-BE49-F238E27FC236}">
                <a16:creationId xmlns:a16="http://schemas.microsoft.com/office/drawing/2014/main" id="{1A9CE8FF-C4B9-ECCA-CB8D-07233BDCD271}"/>
              </a:ext>
            </a:extLst>
          </p:cNvPr>
          <p:cNvGraphicFramePr>
            <a:graphicFrameLocks/>
          </p:cNvGraphicFramePr>
          <p:nvPr>
            <p:extLst>
              <p:ext uri="{D42A27DB-BD31-4B8C-83A1-F6EECF244321}">
                <p14:modId xmlns:p14="http://schemas.microsoft.com/office/powerpoint/2010/main" val="750801524"/>
              </p:ext>
            </p:extLst>
          </p:nvPr>
        </p:nvGraphicFramePr>
        <p:xfrm>
          <a:off x="992221" y="2162386"/>
          <a:ext cx="5447490" cy="4351214"/>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32331184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0D0D3E-EF45-D11B-763E-206314EBF2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ED0D00-656E-8646-68DA-433D5D82CCB2}"/>
              </a:ext>
            </a:extLst>
          </p:cNvPr>
          <p:cNvSpPr>
            <a:spLocks noGrp="1"/>
          </p:cNvSpPr>
          <p:nvPr>
            <p:ph type="ctrTitle"/>
          </p:nvPr>
        </p:nvSpPr>
        <p:spPr>
          <a:xfrm>
            <a:off x="1299454" y="174416"/>
            <a:ext cx="7416530" cy="993985"/>
          </a:xfrm>
        </p:spPr>
        <p:txBody>
          <a:bodyPr>
            <a:noAutofit/>
          </a:bodyPr>
          <a:lstStyle/>
          <a:p>
            <a:br>
              <a:rPr lang="en-US" sz="3600" dirty="0"/>
            </a:br>
            <a:br>
              <a:rPr lang="en-US" sz="3600" dirty="0"/>
            </a:br>
            <a:br>
              <a:rPr lang="en-US" sz="3600" dirty="0"/>
            </a:br>
            <a:br>
              <a:rPr lang="en-US" sz="3600" dirty="0"/>
            </a:br>
            <a:br>
              <a:rPr lang="en-US" sz="3600" dirty="0"/>
            </a:br>
            <a:br>
              <a:rPr lang="en-US" sz="3600" dirty="0"/>
            </a:br>
            <a:br>
              <a:rPr lang="en-US" sz="3600" dirty="0"/>
            </a:br>
            <a:br>
              <a:rPr lang="en-US" sz="3600" dirty="0"/>
            </a:br>
            <a:br>
              <a:rPr lang="en-US" sz="3600" dirty="0"/>
            </a:br>
            <a:br>
              <a:rPr lang="en-US" sz="3600" dirty="0"/>
            </a:br>
            <a:br>
              <a:rPr lang="en-US" sz="3600" dirty="0"/>
            </a:br>
            <a:r>
              <a:rPr lang="en-US" sz="3600" dirty="0"/>
              <a:t>Long range view</a:t>
            </a:r>
            <a:br>
              <a:rPr lang="en-US" sz="3600" dirty="0"/>
            </a:br>
            <a:endParaRPr lang="en-ZA" sz="3600" dirty="0"/>
          </a:p>
        </p:txBody>
      </p:sp>
      <p:sp>
        <p:nvSpPr>
          <p:cNvPr id="3" name="Subtitle 2">
            <a:extLst>
              <a:ext uri="{FF2B5EF4-FFF2-40B4-BE49-F238E27FC236}">
                <a16:creationId xmlns:a16="http://schemas.microsoft.com/office/drawing/2014/main" id="{CF97E4B1-B452-7ED3-4001-91A552D7F2B4}"/>
              </a:ext>
            </a:extLst>
          </p:cNvPr>
          <p:cNvSpPr>
            <a:spLocks noGrp="1"/>
          </p:cNvSpPr>
          <p:nvPr>
            <p:ph type="subTitle" idx="1"/>
          </p:nvPr>
        </p:nvSpPr>
        <p:spPr>
          <a:xfrm>
            <a:off x="7519481" y="1407437"/>
            <a:ext cx="4868758" cy="4972099"/>
          </a:xfrm>
        </p:spPr>
        <p:txBody>
          <a:bodyPr>
            <a:normAutofit/>
          </a:bodyPr>
          <a:lstStyle/>
          <a:p>
            <a:r>
              <a:rPr lang="en-US" sz="1600" dirty="0"/>
              <a:t>Revenue as generated is declining overtime with gross profit mark holding below the zero level, indicating a loss of revenue overtime.</a:t>
            </a:r>
          </a:p>
          <a:p>
            <a:endParaRPr lang="en-US" sz="1600" dirty="0"/>
          </a:p>
          <a:p>
            <a:endParaRPr lang="en-US" sz="1600" dirty="0"/>
          </a:p>
          <a:p>
            <a:r>
              <a:rPr lang="en-US" sz="1600" dirty="0"/>
              <a:t>The sales graph exposes the lack of coherent and consistent strategy for driving sales </a:t>
            </a:r>
            <a:endParaRPr lang="en-ZA" sz="1600" dirty="0"/>
          </a:p>
        </p:txBody>
      </p:sp>
      <p:pic>
        <p:nvPicPr>
          <p:cNvPr id="5" name="Picture 4">
            <a:extLst>
              <a:ext uri="{FF2B5EF4-FFF2-40B4-BE49-F238E27FC236}">
                <a16:creationId xmlns:a16="http://schemas.microsoft.com/office/drawing/2014/main" id="{68A8C9B2-183D-40E5-4F19-6AAC3C976D9B}"/>
              </a:ext>
            </a:extLst>
          </p:cNvPr>
          <p:cNvPicPr>
            <a:picLocks noChangeAspect="1"/>
          </p:cNvPicPr>
          <p:nvPr/>
        </p:nvPicPr>
        <p:blipFill>
          <a:blip r:embed="rId2"/>
          <a:stretch>
            <a:fillRect/>
          </a:stretch>
        </p:blipFill>
        <p:spPr>
          <a:xfrm>
            <a:off x="10896600" y="32860"/>
            <a:ext cx="1166812" cy="1135541"/>
          </a:xfrm>
          <a:prstGeom prst="rect">
            <a:avLst/>
          </a:prstGeom>
        </p:spPr>
      </p:pic>
      <p:graphicFrame>
        <p:nvGraphicFramePr>
          <p:cNvPr id="4" name="Chart 3">
            <a:extLst>
              <a:ext uri="{FF2B5EF4-FFF2-40B4-BE49-F238E27FC236}">
                <a16:creationId xmlns:a16="http://schemas.microsoft.com/office/drawing/2014/main" id="{E8A7E58D-7383-DC2E-0652-D73FDACFF780}"/>
              </a:ext>
            </a:extLst>
          </p:cNvPr>
          <p:cNvGraphicFramePr>
            <a:graphicFrameLocks/>
          </p:cNvGraphicFramePr>
          <p:nvPr>
            <p:extLst>
              <p:ext uri="{D42A27DB-BD31-4B8C-83A1-F6EECF244321}">
                <p14:modId xmlns:p14="http://schemas.microsoft.com/office/powerpoint/2010/main" val="336311388"/>
              </p:ext>
            </p:extLst>
          </p:nvPr>
        </p:nvGraphicFramePr>
        <p:xfrm>
          <a:off x="1435396" y="1237315"/>
          <a:ext cx="6181361" cy="4972099"/>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4509108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a:extLst>
            <a:ext uri="{FF2B5EF4-FFF2-40B4-BE49-F238E27FC236}">
              <a16:creationId xmlns:a16="http://schemas.microsoft.com/office/drawing/2014/main" id="{265E314F-580B-F376-4F8A-5D7582AE6A36}"/>
            </a:ext>
          </a:extLst>
        </p:cNvPr>
        <p:cNvGrpSpPr/>
        <p:nvPr/>
      </p:nvGrpSpPr>
      <p:grpSpPr>
        <a:xfrm>
          <a:off x="0" y="0"/>
          <a:ext cx="0" cy="0"/>
          <a:chOff x="0" y="0"/>
          <a:chExt cx="0" cy="0"/>
        </a:xfrm>
      </p:grpSpPr>
      <p:sp useBgFill="1">
        <p:nvSpPr>
          <p:cNvPr id="73" name="Rectangle 72">
            <a:extLst>
              <a:ext uri="{FF2B5EF4-FFF2-40B4-BE49-F238E27FC236}">
                <a16:creationId xmlns:a16="http://schemas.microsoft.com/office/drawing/2014/main" id="{CADF4631-3C8F-45EE-8D19-4D3E8426B3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86"/>
            <a:ext cx="12192000" cy="68540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4" name="Group 73">
            <a:extLst>
              <a:ext uri="{FF2B5EF4-FFF2-40B4-BE49-F238E27FC236}">
                <a16:creationId xmlns:a16="http://schemas.microsoft.com/office/drawing/2014/main" id="{F291099C-17EE-4E0E-B096-C7997505003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 y="228600"/>
            <a:ext cx="2851523" cy="6638625"/>
            <a:chOff x="2487613" y="285750"/>
            <a:chExt cx="2428875" cy="5654676"/>
          </a:xfrm>
        </p:grpSpPr>
        <p:sp>
          <p:nvSpPr>
            <p:cNvPr id="13" name="Freeform 11">
              <a:extLst>
                <a:ext uri="{FF2B5EF4-FFF2-40B4-BE49-F238E27FC236}">
                  <a16:creationId xmlns:a16="http://schemas.microsoft.com/office/drawing/2014/main" id="{E21C6221-3E1B-4ABD-8172-FAE995E65F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txBody>
            <a:bodyPr/>
            <a:lstStyle/>
            <a:p>
              <a:endParaRPr lang="en-ZA"/>
            </a:p>
          </p:txBody>
        </p:sp>
        <p:sp>
          <p:nvSpPr>
            <p:cNvPr id="75" name="Freeform 12">
              <a:extLst>
                <a:ext uri="{FF2B5EF4-FFF2-40B4-BE49-F238E27FC236}">
                  <a16:creationId xmlns:a16="http://schemas.microsoft.com/office/drawing/2014/main" id="{D3EF5991-93EA-451F-BB82-1ABC4AC0D2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txBody>
            <a:bodyPr/>
            <a:lstStyle/>
            <a:p>
              <a:endParaRPr lang="en-ZA"/>
            </a:p>
          </p:txBody>
        </p:sp>
        <p:sp>
          <p:nvSpPr>
            <p:cNvPr id="76" name="Freeform 13">
              <a:extLst>
                <a:ext uri="{FF2B5EF4-FFF2-40B4-BE49-F238E27FC236}">
                  <a16:creationId xmlns:a16="http://schemas.microsoft.com/office/drawing/2014/main" id="{136F96F7-16E6-48A1-A211-0B4A4D0C83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txBody>
            <a:bodyPr/>
            <a:lstStyle/>
            <a:p>
              <a:endParaRPr lang="en-ZA"/>
            </a:p>
          </p:txBody>
        </p:sp>
        <p:sp>
          <p:nvSpPr>
            <p:cNvPr id="77" name="Freeform 14">
              <a:extLst>
                <a:ext uri="{FF2B5EF4-FFF2-40B4-BE49-F238E27FC236}">
                  <a16:creationId xmlns:a16="http://schemas.microsoft.com/office/drawing/2014/main" id="{5C00D000-7FA5-40C4-AB6A-DE3A61AB83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txBody>
            <a:bodyPr/>
            <a:lstStyle/>
            <a:p>
              <a:endParaRPr lang="en-ZA"/>
            </a:p>
          </p:txBody>
        </p:sp>
        <p:sp>
          <p:nvSpPr>
            <p:cNvPr id="78" name="Freeform 15">
              <a:extLst>
                <a:ext uri="{FF2B5EF4-FFF2-40B4-BE49-F238E27FC236}">
                  <a16:creationId xmlns:a16="http://schemas.microsoft.com/office/drawing/2014/main" id="{5AAEB880-A03D-4743-9060-D7A846FA68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txBody>
            <a:bodyPr/>
            <a:lstStyle/>
            <a:p>
              <a:endParaRPr lang="en-ZA"/>
            </a:p>
          </p:txBody>
        </p:sp>
        <p:sp>
          <p:nvSpPr>
            <p:cNvPr id="79" name="Freeform 16">
              <a:extLst>
                <a:ext uri="{FF2B5EF4-FFF2-40B4-BE49-F238E27FC236}">
                  <a16:creationId xmlns:a16="http://schemas.microsoft.com/office/drawing/2014/main" id="{CC64DD68-0B96-4DE9-8FD5-3175E4A3F1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txBody>
            <a:bodyPr/>
            <a:lstStyle/>
            <a:p>
              <a:endParaRPr lang="en-ZA"/>
            </a:p>
          </p:txBody>
        </p:sp>
        <p:sp>
          <p:nvSpPr>
            <p:cNvPr id="80" name="Freeform 17">
              <a:extLst>
                <a:ext uri="{FF2B5EF4-FFF2-40B4-BE49-F238E27FC236}">
                  <a16:creationId xmlns:a16="http://schemas.microsoft.com/office/drawing/2014/main" id="{69118400-C17B-4068-86D3-93CAE7702C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txBody>
            <a:bodyPr/>
            <a:lstStyle/>
            <a:p>
              <a:endParaRPr lang="en-ZA"/>
            </a:p>
          </p:txBody>
        </p:sp>
        <p:sp>
          <p:nvSpPr>
            <p:cNvPr id="81" name="Freeform 18">
              <a:extLst>
                <a:ext uri="{FF2B5EF4-FFF2-40B4-BE49-F238E27FC236}">
                  <a16:creationId xmlns:a16="http://schemas.microsoft.com/office/drawing/2014/main" id="{117FA22F-CBA8-4CF5-B8CC-2D169B67E4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txBody>
            <a:bodyPr/>
            <a:lstStyle/>
            <a:p>
              <a:endParaRPr lang="en-ZA"/>
            </a:p>
          </p:txBody>
        </p:sp>
        <p:sp>
          <p:nvSpPr>
            <p:cNvPr id="82" name="Freeform 19">
              <a:extLst>
                <a:ext uri="{FF2B5EF4-FFF2-40B4-BE49-F238E27FC236}">
                  <a16:creationId xmlns:a16="http://schemas.microsoft.com/office/drawing/2014/main" id="{8FB2D443-8598-4CEE-AED2-BEF49AA95C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txBody>
            <a:bodyPr/>
            <a:lstStyle/>
            <a:p>
              <a:endParaRPr lang="en-ZA"/>
            </a:p>
          </p:txBody>
        </p:sp>
        <p:sp>
          <p:nvSpPr>
            <p:cNvPr id="83" name="Freeform 20">
              <a:extLst>
                <a:ext uri="{FF2B5EF4-FFF2-40B4-BE49-F238E27FC236}">
                  <a16:creationId xmlns:a16="http://schemas.microsoft.com/office/drawing/2014/main" id="{92593E33-68AF-485D-99D0-080CEA1971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txBody>
            <a:bodyPr/>
            <a:lstStyle/>
            <a:p>
              <a:endParaRPr lang="en-ZA"/>
            </a:p>
          </p:txBody>
        </p:sp>
        <p:sp>
          <p:nvSpPr>
            <p:cNvPr id="84" name="Freeform 21">
              <a:extLst>
                <a:ext uri="{FF2B5EF4-FFF2-40B4-BE49-F238E27FC236}">
                  <a16:creationId xmlns:a16="http://schemas.microsoft.com/office/drawing/2014/main" id="{96A28427-575C-4904-AC4B-3DD62801DC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txBody>
            <a:bodyPr/>
            <a:lstStyle/>
            <a:p>
              <a:endParaRPr lang="en-ZA"/>
            </a:p>
          </p:txBody>
        </p:sp>
        <p:sp>
          <p:nvSpPr>
            <p:cNvPr id="85" name="Freeform 22">
              <a:extLst>
                <a:ext uri="{FF2B5EF4-FFF2-40B4-BE49-F238E27FC236}">
                  <a16:creationId xmlns:a16="http://schemas.microsoft.com/office/drawing/2014/main" id="{782FA736-DE89-4D13-B0A7-3906B32CEF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txBody>
            <a:bodyPr/>
            <a:lstStyle/>
            <a:p>
              <a:endParaRPr lang="en-ZA"/>
            </a:p>
          </p:txBody>
        </p:sp>
      </p:grpSp>
      <p:sp>
        <p:nvSpPr>
          <p:cNvPr id="3" name="Subtitle 2">
            <a:extLst>
              <a:ext uri="{FF2B5EF4-FFF2-40B4-BE49-F238E27FC236}">
                <a16:creationId xmlns:a16="http://schemas.microsoft.com/office/drawing/2014/main" id="{8361E316-B53D-B23D-90E0-61BC55E9EC75}"/>
              </a:ext>
            </a:extLst>
          </p:cNvPr>
          <p:cNvSpPr>
            <a:spLocks noGrp="1"/>
          </p:cNvSpPr>
          <p:nvPr>
            <p:ph type="subTitle" idx="1"/>
          </p:nvPr>
        </p:nvSpPr>
        <p:spPr>
          <a:xfrm>
            <a:off x="1656965" y="4242816"/>
            <a:ext cx="10434384" cy="1961085"/>
          </a:xfrm>
        </p:spPr>
        <p:txBody>
          <a:bodyPr>
            <a:normAutofit/>
          </a:bodyPr>
          <a:lstStyle/>
          <a:p>
            <a:pPr algn="ctr"/>
            <a:r>
              <a:rPr lang="en-US" dirty="0"/>
              <a:t>Profitability factor</a:t>
            </a:r>
          </a:p>
          <a:p>
            <a:r>
              <a:rPr lang="en-ZA" dirty="0"/>
              <a:t>Despite the good sales produced across all categories. The profit remains negative across, the region and biggest losers are New Jersey, Florida and Texas in the top 3 losers.  However small profit margins are recorded North Carolina, Washington,  California etc.  The overall profit remains negative for Bright Motors.</a:t>
            </a:r>
          </a:p>
        </p:txBody>
      </p:sp>
      <p:grpSp>
        <p:nvGrpSpPr>
          <p:cNvPr id="86" name="Group 85">
            <a:extLst>
              <a:ext uri="{FF2B5EF4-FFF2-40B4-BE49-F238E27FC236}">
                <a16:creationId xmlns:a16="http://schemas.microsoft.com/office/drawing/2014/main" id="{6A54B62D-FC5C-4E1A-8D8B-279576FE537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7224" y="-786"/>
            <a:ext cx="2356675" cy="6854040"/>
            <a:chOff x="6627813" y="194833"/>
            <a:chExt cx="1952625" cy="5678918"/>
          </a:xfrm>
        </p:grpSpPr>
        <p:sp>
          <p:nvSpPr>
            <p:cNvPr id="27" name="Freeform 27">
              <a:extLst>
                <a:ext uri="{FF2B5EF4-FFF2-40B4-BE49-F238E27FC236}">
                  <a16:creationId xmlns:a16="http://schemas.microsoft.com/office/drawing/2014/main" id="{4706D2CB-CE4C-4F40-B189-FD7BB4466B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txBody>
            <a:bodyPr/>
            <a:lstStyle/>
            <a:p>
              <a:endParaRPr lang="en-ZA"/>
            </a:p>
          </p:txBody>
        </p:sp>
        <p:sp>
          <p:nvSpPr>
            <p:cNvPr id="87" name="Freeform 28">
              <a:extLst>
                <a:ext uri="{FF2B5EF4-FFF2-40B4-BE49-F238E27FC236}">
                  <a16:creationId xmlns:a16="http://schemas.microsoft.com/office/drawing/2014/main" id="{2714CF7E-2DF6-4F91-8BB2-D62E8B549D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txBody>
            <a:bodyPr/>
            <a:lstStyle/>
            <a:p>
              <a:endParaRPr lang="en-ZA"/>
            </a:p>
          </p:txBody>
        </p:sp>
        <p:sp>
          <p:nvSpPr>
            <p:cNvPr id="88" name="Freeform 29">
              <a:extLst>
                <a:ext uri="{FF2B5EF4-FFF2-40B4-BE49-F238E27FC236}">
                  <a16:creationId xmlns:a16="http://schemas.microsoft.com/office/drawing/2014/main" id="{F30DCFE1-624D-4D3C-AC61-757C2FF356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txBody>
            <a:bodyPr/>
            <a:lstStyle/>
            <a:p>
              <a:endParaRPr lang="en-ZA"/>
            </a:p>
          </p:txBody>
        </p:sp>
        <p:sp>
          <p:nvSpPr>
            <p:cNvPr id="89" name="Freeform 30">
              <a:extLst>
                <a:ext uri="{FF2B5EF4-FFF2-40B4-BE49-F238E27FC236}">
                  <a16:creationId xmlns:a16="http://schemas.microsoft.com/office/drawing/2014/main" id="{BF08ABFE-DD31-4F1F-9520-93CC613CD3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txBody>
            <a:bodyPr/>
            <a:lstStyle/>
            <a:p>
              <a:endParaRPr lang="en-ZA"/>
            </a:p>
          </p:txBody>
        </p:sp>
        <p:sp>
          <p:nvSpPr>
            <p:cNvPr id="90" name="Freeform 31">
              <a:extLst>
                <a:ext uri="{FF2B5EF4-FFF2-40B4-BE49-F238E27FC236}">
                  <a16:creationId xmlns:a16="http://schemas.microsoft.com/office/drawing/2014/main" id="{ADFB2DBD-F00A-4820-876F-4E75F216B1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txBody>
            <a:bodyPr/>
            <a:lstStyle/>
            <a:p>
              <a:endParaRPr lang="en-ZA"/>
            </a:p>
          </p:txBody>
        </p:sp>
        <p:sp>
          <p:nvSpPr>
            <p:cNvPr id="91" name="Freeform 32">
              <a:extLst>
                <a:ext uri="{FF2B5EF4-FFF2-40B4-BE49-F238E27FC236}">
                  <a16:creationId xmlns:a16="http://schemas.microsoft.com/office/drawing/2014/main" id="{3F85387B-5668-4570-BC5C-AA89417C71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txBody>
            <a:bodyPr/>
            <a:lstStyle/>
            <a:p>
              <a:endParaRPr lang="en-ZA"/>
            </a:p>
          </p:txBody>
        </p:sp>
        <p:sp>
          <p:nvSpPr>
            <p:cNvPr id="92" name="Freeform 33">
              <a:extLst>
                <a:ext uri="{FF2B5EF4-FFF2-40B4-BE49-F238E27FC236}">
                  <a16:creationId xmlns:a16="http://schemas.microsoft.com/office/drawing/2014/main" id="{FEA70EF6-623D-453D-8360-1B0C142A29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txBody>
            <a:bodyPr/>
            <a:lstStyle/>
            <a:p>
              <a:endParaRPr lang="en-ZA"/>
            </a:p>
          </p:txBody>
        </p:sp>
        <p:sp>
          <p:nvSpPr>
            <p:cNvPr id="93" name="Freeform 34">
              <a:extLst>
                <a:ext uri="{FF2B5EF4-FFF2-40B4-BE49-F238E27FC236}">
                  <a16:creationId xmlns:a16="http://schemas.microsoft.com/office/drawing/2014/main" id="{FE3B449C-A5FE-44B9-A01C-A115C37D36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txBody>
            <a:bodyPr/>
            <a:lstStyle/>
            <a:p>
              <a:endParaRPr lang="en-ZA"/>
            </a:p>
          </p:txBody>
        </p:sp>
        <p:sp>
          <p:nvSpPr>
            <p:cNvPr id="94" name="Freeform 35">
              <a:extLst>
                <a:ext uri="{FF2B5EF4-FFF2-40B4-BE49-F238E27FC236}">
                  <a16:creationId xmlns:a16="http://schemas.microsoft.com/office/drawing/2014/main" id="{BD672E89-DAB4-41AE-891D-6B6A52B0EA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txBody>
            <a:bodyPr/>
            <a:lstStyle/>
            <a:p>
              <a:endParaRPr lang="en-ZA"/>
            </a:p>
          </p:txBody>
        </p:sp>
        <p:sp>
          <p:nvSpPr>
            <p:cNvPr id="95" name="Freeform 36">
              <a:extLst>
                <a:ext uri="{FF2B5EF4-FFF2-40B4-BE49-F238E27FC236}">
                  <a16:creationId xmlns:a16="http://schemas.microsoft.com/office/drawing/2014/main" id="{C69123C3-F0F9-4AA7-BA7B-9E5E0AF27E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txBody>
            <a:bodyPr/>
            <a:lstStyle/>
            <a:p>
              <a:endParaRPr lang="en-ZA"/>
            </a:p>
          </p:txBody>
        </p:sp>
        <p:sp>
          <p:nvSpPr>
            <p:cNvPr id="96" name="Freeform 37">
              <a:extLst>
                <a:ext uri="{FF2B5EF4-FFF2-40B4-BE49-F238E27FC236}">
                  <a16:creationId xmlns:a16="http://schemas.microsoft.com/office/drawing/2014/main" id="{E10779C5-3DD9-489D-9A2D-EF45B7BE30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txBody>
            <a:bodyPr/>
            <a:lstStyle/>
            <a:p>
              <a:endParaRPr lang="en-ZA"/>
            </a:p>
          </p:txBody>
        </p:sp>
        <p:sp>
          <p:nvSpPr>
            <p:cNvPr id="97" name="Freeform 38">
              <a:extLst>
                <a:ext uri="{FF2B5EF4-FFF2-40B4-BE49-F238E27FC236}">
                  <a16:creationId xmlns:a16="http://schemas.microsoft.com/office/drawing/2014/main" id="{1D3B4B35-2090-4DA8-ADBE-DD888B4E17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txBody>
            <a:bodyPr/>
            <a:lstStyle/>
            <a:p>
              <a:endParaRPr lang="en-ZA"/>
            </a:p>
          </p:txBody>
        </p:sp>
      </p:grpSp>
      <p:sp>
        <p:nvSpPr>
          <p:cNvPr id="98" name="Rectangle 97">
            <a:extLst>
              <a:ext uri="{FF2B5EF4-FFF2-40B4-BE49-F238E27FC236}">
                <a16:creationId xmlns:a16="http://schemas.microsoft.com/office/drawing/2014/main" id="{46FA917F-43A3-4FA3-A085-59D0DC397E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ZA"/>
          </a:p>
        </p:txBody>
      </p:sp>
      <p:sp>
        <p:nvSpPr>
          <p:cNvPr id="99" name="Freeform 33">
            <a:extLst>
              <a:ext uri="{FF2B5EF4-FFF2-40B4-BE49-F238E27FC236}">
                <a16:creationId xmlns:a16="http://schemas.microsoft.com/office/drawing/2014/main" id="{9CBF007B-8C8C-4F79-B037-9F4C61F9F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4753578"/>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txBody>
          <a:bodyPr/>
          <a:lstStyle/>
          <a:p>
            <a:endParaRPr lang="en-ZA"/>
          </a:p>
        </p:txBody>
      </p:sp>
      <p:pic>
        <p:nvPicPr>
          <p:cNvPr id="5" name="Picture 4">
            <a:extLst>
              <a:ext uri="{FF2B5EF4-FFF2-40B4-BE49-F238E27FC236}">
                <a16:creationId xmlns:a16="http://schemas.microsoft.com/office/drawing/2014/main" id="{53760DC7-F34F-03F1-7E34-1F738C75B230}"/>
              </a:ext>
            </a:extLst>
          </p:cNvPr>
          <p:cNvPicPr>
            <a:picLocks noChangeAspect="1"/>
          </p:cNvPicPr>
          <p:nvPr/>
        </p:nvPicPr>
        <p:blipFill>
          <a:blip r:embed="rId2"/>
          <a:stretch>
            <a:fillRect/>
          </a:stretch>
        </p:blipFill>
        <p:spPr>
          <a:xfrm>
            <a:off x="10896600" y="32860"/>
            <a:ext cx="1166812" cy="1135541"/>
          </a:xfrm>
          <a:prstGeom prst="rect">
            <a:avLst/>
          </a:prstGeom>
        </p:spPr>
      </p:pic>
      <p:graphicFrame>
        <p:nvGraphicFramePr>
          <p:cNvPr id="4" name="Chart 3">
            <a:extLst>
              <a:ext uri="{FF2B5EF4-FFF2-40B4-BE49-F238E27FC236}">
                <a16:creationId xmlns:a16="http://schemas.microsoft.com/office/drawing/2014/main" id="{B7554F0E-C9C4-A6F0-F4E3-D42A3C64C462}"/>
              </a:ext>
            </a:extLst>
          </p:cNvPr>
          <p:cNvGraphicFramePr>
            <a:graphicFrameLocks/>
          </p:cNvGraphicFramePr>
          <p:nvPr>
            <p:extLst>
              <p:ext uri="{D42A27DB-BD31-4B8C-83A1-F6EECF244321}">
                <p14:modId xmlns:p14="http://schemas.microsoft.com/office/powerpoint/2010/main" val="1780356632"/>
              </p:ext>
            </p:extLst>
          </p:nvPr>
        </p:nvGraphicFramePr>
        <p:xfrm>
          <a:off x="1458562" y="583263"/>
          <a:ext cx="9876995" cy="3751749"/>
        </p:xfrm>
        <a:graphic>
          <a:graphicData uri="http://schemas.openxmlformats.org/drawingml/2006/chart">
            <c:chart xmlns:c="http://schemas.openxmlformats.org/drawingml/2006/chart" xmlns:r="http://schemas.openxmlformats.org/officeDocument/2006/relationships" r:id="rId3"/>
          </a:graphicData>
        </a:graphic>
      </p:graphicFrame>
      <p:sp>
        <p:nvSpPr>
          <p:cNvPr id="11" name="Title 1">
            <a:extLst>
              <a:ext uri="{FF2B5EF4-FFF2-40B4-BE49-F238E27FC236}">
                <a16:creationId xmlns:a16="http://schemas.microsoft.com/office/drawing/2014/main" id="{8BE9F66F-5031-7AD0-9141-7ABEB0E53987}"/>
              </a:ext>
            </a:extLst>
          </p:cNvPr>
          <p:cNvSpPr>
            <a:spLocks noGrp="1"/>
          </p:cNvSpPr>
          <p:nvPr>
            <p:ph type="ctrTitle"/>
          </p:nvPr>
        </p:nvSpPr>
        <p:spPr>
          <a:xfrm>
            <a:off x="1204786" y="259386"/>
            <a:ext cx="10783159" cy="1056638"/>
          </a:xfrm>
        </p:spPr>
        <p:txBody>
          <a:bodyPr>
            <a:noAutofit/>
          </a:bodyPr>
          <a:lstStyle/>
          <a:p>
            <a:r>
              <a:rPr lang="en-US" sz="3600" dirty="0"/>
              <a:t>The </a:t>
            </a:r>
            <a:r>
              <a:rPr lang="en-US" sz="3200" dirty="0"/>
              <a:t>Profitability</a:t>
            </a:r>
            <a:r>
              <a:rPr lang="en-US" sz="3600" dirty="0"/>
              <a:t> Gap (MMR vs. Selling Price)</a:t>
            </a:r>
            <a:br>
              <a:rPr lang="en-US" sz="4400" dirty="0"/>
            </a:br>
            <a:endParaRPr lang="en-ZA" sz="4400" dirty="0"/>
          </a:p>
        </p:txBody>
      </p:sp>
    </p:spTree>
    <p:extLst>
      <p:ext uri="{BB962C8B-B14F-4D97-AF65-F5344CB8AC3E}">
        <p14:creationId xmlns:p14="http://schemas.microsoft.com/office/powerpoint/2010/main" val="8937455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5936A7-A2A7-8226-EDA7-13393538A1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7A6A25-E97B-768A-8495-154B3C8E8014}"/>
              </a:ext>
            </a:extLst>
          </p:cNvPr>
          <p:cNvSpPr>
            <a:spLocks noGrp="1"/>
          </p:cNvSpPr>
          <p:nvPr>
            <p:ph type="ctrTitle"/>
          </p:nvPr>
        </p:nvSpPr>
        <p:spPr>
          <a:xfrm>
            <a:off x="1342418" y="308686"/>
            <a:ext cx="9393316" cy="748452"/>
          </a:xfrm>
        </p:spPr>
        <p:txBody>
          <a:bodyPr>
            <a:noAutofit/>
          </a:bodyPr>
          <a:lstStyle/>
          <a:p>
            <a:br>
              <a:rPr lang="en-US" sz="3200" dirty="0"/>
            </a:br>
            <a:br>
              <a:rPr lang="en-US" sz="3200" dirty="0"/>
            </a:br>
            <a:br>
              <a:rPr lang="en-US" sz="3200" dirty="0"/>
            </a:br>
            <a:br>
              <a:rPr lang="en-US" sz="3200" dirty="0"/>
            </a:br>
            <a:br>
              <a:rPr lang="en-US" sz="3200" dirty="0"/>
            </a:br>
            <a:br>
              <a:rPr lang="en-US" sz="3200" dirty="0"/>
            </a:br>
            <a:br>
              <a:rPr lang="en-US" sz="3200" dirty="0"/>
            </a:br>
            <a:br>
              <a:rPr lang="en-US" sz="3200" dirty="0"/>
            </a:br>
            <a:br>
              <a:rPr lang="en-US" sz="3200" dirty="0"/>
            </a:br>
            <a:br>
              <a:rPr lang="en-US" sz="3200" dirty="0"/>
            </a:br>
            <a:br>
              <a:rPr lang="en-US" sz="3200" dirty="0"/>
            </a:br>
            <a:r>
              <a:rPr lang="en-US" sz="3200" dirty="0"/>
              <a:t>Hot Markets/ Regional Markets</a:t>
            </a:r>
            <a:br>
              <a:rPr lang="en-US" sz="3200" dirty="0"/>
            </a:br>
            <a:endParaRPr lang="en-ZA" sz="3200" dirty="0"/>
          </a:p>
        </p:txBody>
      </p:sp>
      <p:sp>
        <p:nvSpPr>
          <p:cNvPr id="3" name="Subtitle 2">
            <a:extLst>
              <a:ext uri="{FF2B5EF4-FFF2-40B4-BE49-F238E27FC236}">
                <a16:creationId xmlns:a16="http://schemas.microsoft.com/office/drawing/2014/main" id="{5366D7CC-6A39-7A82-A6FD-BE7B8F9FAC0C}"/>
              </a:ext>
            </a:extLst>
          </p:cNvPr>
          <p:cNvSpPr>
            <a:spLocks noGrp="1"/>
          </p:cNvSpPr>
          <p:nvPr>
            <p:ph type="subTitle" idx="1"/>
          </p:nvPr>
        </p:nvSpPr>
        <p:spPr>
          <a:xfrm>
            <a:off x="1456267" y="1168401"/>
            <a:ext cx="5156199" cy="5418666"/>
          </a:xfrm>
        </p:spPr>
        <p:txBody>
          <a:bodyPr>
            <a:normAutofit/>
          </a:bodyPr>
          <a:lstStyle/>
          <a:p>
            <a:r>
              <a:rPr lang="en-US" sz="1600" dirty="0"/>
              <a:t>Florida, California, </a:t>
            </a:r>
            <a:r>
              <a:rPr lang="en-US" sz="1600" dirty="0" err="1"/>
              <a:t>Pennyslavia</a:t>
            </a:r>
            <a:r>
              <a:rPr lang="en-US" sz="1600" dirty="0"/>
              <a:t> and Texas are the top selling areas indicating a high demand for vehicle in these areas</a:t>
            </a:r>
            <a:endParaRPr lang="en-ZA" sz="1600" dirty="0"/>
          </a:p>
        </p:txBody>
      </p:sp>
      <p:pic>
        <p:nvPicPr>
          <p:cNvPr id="5" name="Picture 4">
            <a:extLst>
              <a:ext uri="{FF2B5EF4-FFF2-40B4-BE49-F238E27FC236}">
                <a16:creationId xmlns:a16="http://schemas.microsoft.com/office/drawing/2014/main" id="{4E13374E-9571-6943-87FC-9343A8587394}"/>
              </a:ext>
            </a:extLst>
          </p:cNvPr>
          <p:cNvPicPr>
            <a:picLocks noChangeAspect="1"/>
          </p:cNvPicPr>
          <p:nvPr/>
        </p:nvPicPr>
        <p:blipFill>
          <a:blip r:embed="rId2"/>
          <a:stretch>
            <a:fillRect/>
          </a:stretch>
        </p:blipFill>
        <p:spPr>
          <a:xfrm>
            <a:off x="10896600" y="32860"/>
            <a:ext cx="1166812" cy="1135541"/>
          </a:xfrm>
          <a:prstGeom prst="rect">
            <a:avLst/>
          </a:prstGeom>
        </p:spPr>
      </p:pic>
      <p:graphicFrame>
        <p:nvGraphicFramePr>
          <p:cNvPr id="7" name="Chart 6">
            <a:extLst>
              <a:ext uri="{FF2B5EF4-FFF2-40B4-BE49-F238E27FC236}">
                <a16:creationId xmlns:a16="http://schemas.microsoft.com/office/drawing/2014/main" id="{14305A79-F90A-1DD3-3A32-44FA86B7FDAC}"/>
              </a:ext>
            </a:extLst>
          </p:cNvPr>
          <p:cNvGraphicFramePr>
            <a:graphicFrameLocks/>
          </p:cNvGraphicFramePr>
          <p:nvPr>
            <p:extLst>
              <p:ext uri="{D42A27DB-BD31-4B8C-83A1-F6EECF244321}">
                <p14:modId xmlns:p14="http://schemas.microsoft.com/office/powerpoint/2010/main" val="3437791833"/>
              </p:ext>
            </p:extLst>
          </p:nvPr>
        </p:nvGraphicFramePr>
        <p:xfrm>
          <a:off x="6612466" y="1246929"/>
          <a:ext cx="5450946" cy="5261610"/>
        </p:xfrm>
        <a:graphic>
          <a:graphicData uri="http://schemas.openxmlformats.org/drawingml/2006/chart">
            <c:chart xmlns:c="http://schemas.openxmlformats.org/drawingml/2006/chart" xmlns:r="http://schemas.openxmlformats.org/officeDocument/2006/relationships" r:id="rId3"/>
          </a:graphicData>
        </a:graphic>
      </p:graphicFrame>
      <p:pic>
        <p:nvPicPr>
          <p:cNvPr id="11" name="Picture 10">
            <a:extLst>
              <a:ext uri="{FF2B5EF4-FFF2-40B4-BE49-F238E27FC236}">
                <a16:creationId xmlns:a16="http://schemas.microsoft.com/office/drawing/2014/main" id="{57DAAFD0-BEDE-A8DC-546A-AA11A02B8150}"/>
              </a:ext>
            </a:extLst>
          </p:cNvPr>
          <p:cNvPicPr>
            <a:picLocks noChangeAspect="1"/>
          </p:cNvPicPr>
          <p:nvPr/>
        </p:nvPicPr>
        <p:blipFill>
          <a:blip r:embed="rId4"/>
          <a:stretch>
            <a:fillRect/>
          </a:stretch>
        </p:blipFill>
        <p:spPr>
          <a:xfrm>
            <a:off x="1342418" y="2217907"/>
            <a:ext cx="5270048" cy="4640094"/>
          </a:xfrm>
          <a:prstGeom prst="rect">
            <a:avLst/>
          </a:prstGeom>
          <a:noFill/>
        </p:spPr>
      </p:pic>
    </p:spTree>
    <p:extLst>
      <p:ext uri="{BB962C8B-B14F-4D97-AF65-F5344CB8AC3E}">
        <p14:creationId xmlns:p14="http://schemas.microsoft.com/office/powerpoint/2010/main" val="38399468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441840-8A39-FBF6-CCE8-39566BD542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FD6BE8-342A-15B3-B1C6-1DC8474BA63E}"/>
              </a:ext>
            </a:extLst>
          </p:cNvPr>
          <p:cNvSpPr>
            <a:spLocks noGrp="1"/>
          </p:cNvSpPr>
          <p:nvPr>
            <p:ph type="ctrTitle"/>
          </p:nvPr>
        </p:nvSpPr>
        <p:spPr>
          <a:xfrm>
            <a:off x="1318908" y="-204206"/>
            <a:ext cx="9554183" cy="1056638"/>
          </a:xfrm>
        </p:spPr>
        <p:txBody>
          <a:bodyPr>
            <a:normAutofit/>
          </a:bodyPr>
          <a:lstStyle/>
          <a:p>
            <a:r>
              <a:rPr lang="en-US" sz="3600" dirty="0"/>
              <a:t>Sales </a:t>
            </a:r>
            <a:r>
              <a:rPr lang="en-US" sz="3200" dirty="0"/>
              <a:t>drivers</a:t>
            </a:r>
            <a:r>
              <a:rPr lang="en-US" sz="3600" dirty="0"/>
              <a:t> </a:t>
            </a:r>
            <a:endParaRPr lang="en-ZA" sz="3600" dirty="0"/>
          </a:p>
        </p:txBody>
      </p:sp>
      <p:sp>
        <p:nvSpPr>
          <p:cNvPr id="3" name="Subtitle 2">
            <a:extLst>
              <a:ext uri="{FF2B5EF4-FFF2-40B4-BE49-F238E27FC236}">
                <a16:creationId xmlns:a16="http://schemas.microsoft.com/office/drawing/2014/main" id="{D7F7165E-2BAD-6269-38DA-9A4F5E949A25}"/>
              </a:ext>
            </a:extLst>
          </p:cNvPr>
          <p:cNvSpPr>
            <a:spLocks noGrp="1"/>
          </p:cNvSpPr>
          <p:nvPr>
            <p:ph type="subTitle" idx="1"/>
          </p:nvPr>
        </p:nvSpPr>
        <p:spPr>
          <a:xfrm>
            <a:off x="1282356" y="1168401"/>
            <a:ext cx="9859777" cy="2125132"/>
          </a:xfrm>
        </p:spPr>
        <p:txBody>
          <a:bodyPr>
            <a:normAutofit/>
          </a:bodyPr>
          <a:lstStyle/>
          <a:p>
            <a:r>
              <a:rPr lang="en-US" sz="1600" dirty="0"/>
              <a:t>Gasoline on an automatic transmission is an outlier pushing sales multiple folds ahead of manual transmission.  Gasoline is popular among all transmission type claiming 93% of the sales share and diesel at 3%. </a:t>
            </a:r>
          </a:p>
          <a:p>
            <a:endParaRPr lang="en-US" sz="1600" dirty="0"/>
          </a:p>
          <a:p>
            <a:endParaRPr lang="en-ZA" sz="1600" dirty="0"/>
          </a:p>
        </p:txBody>
      </p:sp>
      <p:pic>
        <p:nvPicPr>
          <p:cNvPr id="5" name="Picture 4">
            <a:extLst>
              <a:ext uri="{FF2B5EF4-FFF2-40B4-BE49-F238E27FC236}">
                <a16:creationId xmlns:a16="http://schemas.microsoft.com/office/drawing/2014/main" id="{04CE2BC1-9E68-F2C8-687F-DCB088ABFFEC}"/>
              </a:ext>
            </a:extLst>
          </p:cNvPr>
          <p:cNvPicPr>
            <a:picLocks noChangeAspect="1"/>
          </p:cNvPicPr>
          <p:nvPr/>
        </p:nvPicPr>
        <p:blipFill>
          <a:blip r:embed="rId2"/>
          <a:stretch>
            <a:fillRect/>
          </a:stretch>
        </p:blipFill>
        <p:spPr>
          <a:xfrm>
            <a:off x="10896600" y="32860"/>
            <a:ext cx="1166812" cy="1135541"/>
          </a:xfrm>
          <a:prstGeom prst="rect">
            <a:avLst/>
          </a:prstGeom>
        </p:spPr>
      </p:pic>
      <p:graphicFrame>
        <p:nvGraphicFramePr>
          <p:cNvPr id="4" name="Chart 3">
            <a:extLst>
              <a:ext uri="{FF2B5EF4-FFF2-40B4-BE49-F238E27FC236}">
                <a16:creationId xmlns:a16="http://schemas.microsoft.com/office/drawing/2014/main" id="{B43F4009-54CF-BCC9-3802-31B6C7770BB4}"/>
              </a:ext>
            </a:extLst>
          </p:cNvPr>
          <p:cNvGraphicFramePr>
            <a:graphicFrameLocks/>
          </p:cNvGraphicFramePr>
          <p:nvPr>
            <p:extLst>
              <p:ext uri="{D42A27DB-BD31-4B8C-83A1-F6EECF244321}">
                <p14:modId xmlns:p14="http://schemas.microsoft.com/office/powerpoint/2010/main" val="3398240702"/>
              </p:ext>
            </p:extLst>
          </p:nvPr>
        </p:nvGraphicFramePr>
        <p:xfrm>
          <a:off x="1282357" y="2336800"/>
          <a:ext cx="6548410" cy="4488339"/>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 name="Chart 5">
            <a:extLst>
              <a:ext uri="{FF2B5EF4-FFF2-40B4-BE49-F238E27FC236}">
                <a16:creationId xmlns:a16="http://schemas.microsoft.com/office/drawing/2014/main" id="{7735DC39-5217-FAEF-2CE0-FA44E4CEB5E4}"/>
              </a:ext>
            </a:extLst>
          </p:cNvPr>
          <p:cNvGraphicFramePr>
            <a:graphicFrameLocks/>
          </p:cNvGraphicFramePr>
          <p:nvPr>
            <p:extLst>
              <p:ext uri="{D42A27DB-BD31-4B8C-83A1-F6EECF244321}">
                <p14:modId xmlns:p14="http://schemas.microsoft.com/office/powerpoint/2010/main" val="3132192997"/>
              </p:ext>
            </p:extLst>
          </p:nvPr>
        </p:nvGraphicFramePr>
        <p:xfrm>
          <a:off x="7830766" y="3519432"/>
          <a:ext cx="4361234" cy="2872901"/>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32816128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43FF15-38A1-7362-02B6-635745E406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774103-0295-4349-89E7-B424BAA5B91C}"/>
              </a:ext>
            </a:extLst>
          </p:cNvPr>
          <p:cNvSpPr>
            <a:spLocks noGrp="1"/>
          </p:cNvSpPr>
          <p:nvPr>
            <p:ph type="ctrTitle"/>
          </p:nvPr>
        </p:nvSpPr>
        <p:spPr>
          <a:xfrm>
            <a:off x="1342417" y="270933"/>
            <a:ext cx="9554183" cy="993985"/>
          </a:xfrm>
        </p:spPr>
        <p:txBody>
          <a:bodyPr>
            <a:noAutofit/>
          </a:bodyPr>
          <a:lstStyle/>
          <a:p>
            <a:br>
              <a:rPr lang="en-US" sz="3600" dirty="0"/>
            </a:br>
            <a:br>
              <a:rPr lang="en-US" sz="3600" dirty="0"/>
            </a:br>
            <a:br>
              <a:rPr lang="en-US" sz="3600" dirty="0"/>
            </a:br>
            <a:br>
              <a:rPr lang="en-US" sz="3600" dirty="0"/>
            </a:br>
            <a:br>
              <a:rPr lang="en-US" sz="3600" dirty="0"/>
            </a:br>
            <a:br>
              <a:rPr lang="en-US" sz="3600" dirty="0"/>
            </a:br>
            <a:br>
              <a:rPr lang="en-US" sz="3600" dirty="0"/>
            </a:br>
            <a:br>
              <a:rPr lang="en-US" sz="3600" dirty="0"/>
            </a:br>
            <a:br>
              <a:rPr lang="en-US" sz="3600" dirty="0"/>
            </a:br>
            <a:br>
              <a:rPr lang="en-US" sz="3600" dirty="0"/>
            </a:br>
            <a:br>
              <a:rPr lang="en-US" sz="3600" dirty="0"/>
            </a:br>
            <a:r>
              <a:rPr lang="en-US" sz="3600" dirty="0"/>
              <a:t>Discussions and Opportunities</a:t>
            </a:r>
            <a:br>
              <a:rPr lang="en-US" sz="3600" dirty="0"/>
            </a:br>
            <a:endParaRPr lang="en-ZA" sz="3600" dirty="0"/>
          </a:p>
        </p:txBody>
      </p:sp>
      <p:sp>
        <p:nvSpPr>
          <p:cNvPr id="3" name="Subtitle 2">
            <a:extLst>
              <a:ext uri="{FF2B5EF4-FFF2-40B4-BE49-F238E27FC236}">
                <a16:creationId xmlns:a16="http://schemas.microsoft.com/office/drawing/2014/main" id="{E31198F6-AFA3-FEFE-B692-9CB52A8CCA37}"/>
              </a:ext>
            </a:extLst>
          </p:cNvPr>
          <p:cNvSpPr>
            <a:spLocks noGrp="1"/>
          </p:cNvSpPr>
          <p:nvPr>
            <p:ph type="subTitle" idx="1"/>
          </p:nvPr>
        </p:nvSpPr>
        <p:spPr>
          <a:xfrm>
            <a:off x="1456267" y="1168401"/>
            <a:ext cx="10168465" cy="5418666"/>
          </a:xfrm>
        </p:spPr>
        <p:txBody>
          <a:bodyPr/>
          <a:lstStyle/>
          <a:p>
            <a:r>
              <a:rPr lang="en-US" dirty="0"/>
              <a:t>The overall profit margins across all regions and product lines remain negative.  The company is loosing revenue despite great sales turnover registered with minimal exceptions in some of the states, where the profit is positive.</a:t>
            </a:r>
          </a:p>
          <a:p>
            <a:endParaRPr lang="en-US" dirty="0"/>
          </a:p>
          <a:p>
            <a:r>
              <a:rPr lang="en-US" dirty="0"/>
              <a:t>There are serious growth and expansion opportunities as confirmed by huge sales volume in outlying states, like </a:t>
            </a:r>
            <a:r>
              <a:rPr lang="en-US" dirty="0" err="1"/>
              <a:t>Pennyslavia</a:t>
            </a:r>
            <a:r>
              <a:rPr lang="en-US" dirty="0"/>
              <a:t> and California.</a:t>
            </a:r>
          </a:p>
          <a:p>
            <a:endParaRPr lang="en-US" dirty="0"/>
          </a:p>
          <a:p>
            <a:r>
              <a:rPr lang="en-US" dirty="0"/>
              <a:t>In terms of revenue loss, the company must look into the cost of inventory acquisition so they can increase their profit margin.  This requires an  investigation into the cost of operation to check the inherent profit drainer activities, since ALL sold inventory showed sales above  the MMR value.</a:t>
            </a:r>
            <a:endParaRPr lang="en-ZA" dirty="0"/>
          </a:p>
        </p:txBody>
      </p:sp>
      <p:pic>
        <p:nvPicPr>
          <p:cNvPr id="5" name="Picture 4">
            <a:extLst>
              <a:ext uri="{FF2B5EF4-FFF2-40B4-BE49-F238E27FC236}">
                <a16:creationId xmlns:a16="http://schemas.microsoft.com/office/drawing/2014/main" id="{75ACA8D5-749F-54EF-1903-75E0FEC2A39E}"/>
              </a:ext>
            </a:extLst>
          </p:cNvPr>
          <p:cNvPicPr>
            <a:picLocks noChangeAspect="1"/>
          </p:cNvPicPr>
          <p:nvPr/>
        </p:nvPicPr>
        <p:blipFill>
          <a:blip r:embed="rId2"/>
          <a:stretch>
            <a:fillRect/>
          </a:stretch>
        </p:blipFill>
        <p:spPr>
          <a:xfrm>
            <a:off x="10896600" y="32860"/>
            <a:ext cx="1166812" cy="1135541"/>
          </a:xfrm>
          <a:prstGeom prst="rect">
            <a:avLst/>
          </a:prstGeom>
        </p:spPr>
      </p:pic>
    </p:spTree>
    <p:extLst>
      <p:ext uri="{BB962C8B-B14F-4D97-AF65-F5344CB8AC3E}">
        <p14:creationId xmlns:p14="http://schemas.microsoft.com/office/powerpoint/2010/main" val="32480861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E51120-19AC-7156-8A4E-E793DA6CAD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8F2806-1C3A-A79F-DFEC-418AE0EC328E}"/>
              </a:ext>
            </a:extLst>
          </p:cNvPr>
          <p:cNvSpPr>
            <a:spLocks noGrp="1"/>
          </p:cNvSpPr>
          <p:nvPr>
            <p:ph type="ctrTitle"/>
          </p:nvPr>
        </p:nvSpPr>
        <p:spPr>
          <a:xfrm>
            <a:off x="1348179" y="296230"/>
            <a:ext cx="5120803" cy="1007638"/>
          </a:xfrm>
        </p:spPr>
        <p:txBody>
          <a:bodyPr>
            <a:noAutofit/>
          </a:bodyPr>
          <a:lstStyle/>
          <a:p>
            <a:r>
              <a:rPr lang="en-US" sz="3600" b="1" dirty="0"/>
              <a:t>Recommendations</a:t>
            </a:r>
            <a:br>
              <a:rPr lang="en-US" sz="3600" b="1" dirty="0"/>
            </a:br>
            <a:endParaRPr lang="en-ZA" sz="3600" dirty="0"/>
          </a:p>
        </p:txBody>
      </p:sp>
      <p:sp>
        <p:nvSpPr>
          <p:cNvPr id="3" name="Subtitle 2">
            <a:extLst>
              <a:ext uri="{FF2B5EF4-FFF2-40B4-BE49-F238E27FC236}">
                <a16:creationId xmlns:a16="http://schemas.microsoft.com/office/drawing/2014/main" id="{B50E5D3B-132C-ABFC-B367-D9E66B247864}"/>
              </a:ext>
            </a:extLst>
          </p:cNvPr>
          <p:cNvSpPr>
            <a:spLocks noGrp="1"/>
          </p:cNvSpPr>
          <p:nvPr>
            <p:ph type="subTitle" idx="1"/>
          </p:nvPr>
        </p:nvSpPr>
        <p:spPr>
          <a:xfrm>
            <a:off x="1348179" y="1303868"/>
            <a:ext cx="8896488" cy="5418666"/>
          </a:xfrm>
        </p:spPr>
        <p:txBody>
          <a:bodyPr/>
          <a:lstStyle/>
          <a:p>
            <a:pPr lvl="1" algn="l"/>
            <a:r>
              <a:rPr lang="en-US" b="1" dirty="0"/>
              <a:t>Inventory Shift:</a:t>
            </a:r>
            <a:r>
              <a:rPr lang="en-US" dirty="0"/>
              <a:t> Focus 60% of procurement on the top 3 identified "Profit Champions."</a:t>
            </a:r>
          </a:p>
          <a:p>
            <a:pPr lvl="1" algn="l"/>
            <a:endParaRPr lang="en-US" b="1" dirty="0"/>
          </a:p>
          <a:p>
            <a:pPr lvl="1" algn="l"/>
            <a:r>
              <a:rPr lang="en-US" b="1" dirty="0"/>
              <a:t>Pricing Engine:</a:t>
            </a:r>
            <a:r>
              <a:rPr lang="en-US" dirty="0"/>
              <a:t> Implement an automated pricing alert when Selling Price deviates more than 5% from MMR.</a:t>
            </a:r>
          </a:p>
          <a:p>
            <a:pPr lvl="1" algn="l"/>
            <a:endParaRPr lang="en-US" dirty="0"/>
          </a:p>
          <a:p>
            <a:pPr lvl="1" algn="l"/>
            <a:r>
              <a:rPr lang="en-US" b="1" dirty="0"/>
              <a:t>Regional Allocation:</a:t>
            </a:r>
            <a:r>
              <a:rPr lang="en-US" dirty="0"/>
              <a:t> Shift slow-moving inventory from low-volume states to high-heat regions.</a:t>
            </a:r>
          </a:p>
          <a:p>
            <a:pPr lvl="1" algn="l"/>
            <a:endParaRPr lang="en-US" dirty="0"/>
          </a:p>
          <a:p>
            <a:pPr lvl="1" algn="l"/>
            <a:r>
              <a:rPr lang="en-US" b="1" dirty="0"/>
              <a:t>Inventory Acquisition: </a:t>
            </a:r>
            <a:r>
              <a:rPr lang="en-US" dirty="0"/>
              <a:t>Investigate the cost of inventory acquisition and concurrent introduction of reduction in operating costs for value creation in the bottom line.</a:t>
            </a:r>
          </a:p>
          <a:p>
            <a:pPr lvl="1" algn="l"/>
            <a:endParaRPr lang="en-US" dirty="0"/>
          </a:p>
          <a:p>
            <a:pPr lvl="1" algn="l"/>
            <a:r>
              <a:rPr lang="en-US" dirty="0"/>
              <a:t>Review product placing strategy by investing on online show room to shadow and boost non-performing regions.</a:t>
            </a:r>
          </a:p>
          <a:p>
            <a:endParaRPr lang="en-ZA" dirty="0"/>
          </a:p>
        </p:txBody>
      </p:sp>
      <p:pic>
        <p:nvPicPr>
          <p:cNvPr id="5" name="Picture 4">
            <a:extLst>
              <a:ext uri="{FF2B5EF4-FFF2-40B4-BE49-F238E27FC236}">
                <a16:creationId xmlns:a16="http://schemas.microsoft.com/office/drawing/2014/main" id="{593A604A-B743-0781-8183-5BD86ECF787F}"/>
              </a:ext>
            </a:extLst>
          </p:cNvPr>
          <p:cNvPicPr>
            <a:picLocks noChangeAspect="1"/>
          </p:cNvPicPr>
          <p:nvPr/>
        </p:nvPicPr>
        <p:blipFill>
          <a:blip r:embed="rId2"/>
          <a:stretch>
            <a:fillRect/>
          </a:stretch>
        </p:blipFill>
        <p:spPr>
          <a:xfrm>
            <a:off x="10896600" y="32860"/>
            <a:ext cx="1166812" cy="1135541"/>
          </a:xfrm>
          <a:prstGeom prst="rect">
            <a:avLst/>
          </a:prstGeom>
        </p:spPr>
      </p:pic>
    </p:spTree>
    <p:extLst>
      <p:ext uri="{BB962C8B-B14F-4D97-AF65-F5344CB8AC3E}">
        <p14:creationId xmlns:p14="http://schemas.microsoft.com/office/powerpoint/2010/main" val="483521839"/>
      </p:ext>
    </p:extLst>
  </p:cSld>
  <p:clrMapOvr>
    <a:masterClrMapping/>
  </p:clrMapOvr>
</p:sld>
</file>

<file path=ppt/theme/theme1.xml><?xml version="1.0" encoding="utf-8"?>
<a:theme xmlns:a="http://schemas.openxmlformats.org/drawingml/2006/main" name="Bright Motors">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Metadata/LabelInfo.xml><?xml version="1.0" encoding="utf-8"?>
<clbl:labelList xmlns:clbl="http://schemas.microsoft.com/office/2020/mipLabelMetadata">
  <clbl:label id="{44160afe-d2f8-4cbd-b9d1-5135fc7b07d9}" enabled="0" method="" siteId="{44160afe-d2f8-4cbd-b9d1-5135fc7b07d9}" removed="1"/>
</clbl:labelList>
</file>

<file path=docProps/app.xml><?xml version="1.0" encoding="utf-8"?>
<Properties xmlns="http://schemas.openxmlformats.org/officeDocument/2006/extended-properties" xmlns:vt="http://schemas.openxmlformats.org/officeDocument/2006/docPropsVTypes">
  <Template>Wisp</Template>
  <TotalTime>216</TotalTime>
  <Words>663</Words>
  <Application>Microsoft Office PowerPoint</Application>
  <PresentationFormat>Widescreen</PresentationFormat>
  <Paragraphs>61</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Century Gothic</vt:lpstr>
      <vt:lpstr>Wingdings 3</vt:lpstr>
      <vt:lpstr>Bright Motors</vt:lpstr>
      <vt:lpstr>PowerPoint Presentation</vt:lpstr>
      <vt:lpstr>Executive Summary</vt:lpstr>
      <vt:lpstr>           Vehicle condition </vt:lpstr>
      <vt:lpstr>           Mile age distribution  </vt:lpstr>
      <vt:lpstr>           Long range view </vt:lpstr>
      <vt:lpstr>The Profitability Gap (MMR vs. Selling Price) </vt:lpstr>
      <vt:lpstr>           Hot Markets/ Regional Markets </vt:lpstr>
      <vt:lpstr>Sales drivers </vt:lpstr>
      <vt:lpstr>           Discussions and Opportunities </vt:lpstr>
      <vt:lpstr>Recommendations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Kometsi Khotlele</dc:creator>
  <cp:lastModifiedBy>Kometsi Khotlele</cp:lastModifiedBy>
  <cp:revision>2</cp:revision>
  <dcterms:created xsi:type="dcterms:W3CDTF">2026-04-26T14:15:45Z</dcterms:created>
  <dcterms:modified xsi:type="dcterms:W3CDTF">2026-05-06T07:59:34Z</dcterms:modified>
</cp:coreProperties>
</file>